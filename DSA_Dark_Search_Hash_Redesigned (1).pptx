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4531ac21014e84" /><Relationship Type="http://schemas.openxmlformats.org/officeDocument/2006/relationships/extended-properties" Target="/docProps/app.xml" Id="R726ca860d7754bc3" /><Relationship Type="http://schemas.openxmlformats.org/officeDocument/2006/relationships/officeDocument" Target="/ppt/presentation.xml" Id="Rbcddc2e93a5648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887dbd1ec4da0"/>
  </p:sldMasterIdLst>
  <p:notesMasterIdLst>
    <p:notesMasterId xmlns:r="http://schemas.openxmlformats.org/officeDocument/2006/relationships" r:id="R4de1cb992d934b00"/>
  </p:notesMasterIdLst>
  <p:sldIdLst>
    <p:sldId xmlns:r="http://schemas.openxmlformats.org/officeDocument/2006/relationships" id="256" r:id="Rd009d32056f04d73"/>
    <p:sldId xmlns:r="http://schemas.openxmlformats.org/officeDocument/2006/relationships" id="257" r:id="Rd1066fc5977a4bfa"/>
    <p:sldId xmlns:r="http://schemas.openxmlformats.org/officeDocument/2006/relationships" id="258" r:id="R77bc7212cc4a4b3e"/>
    <p:sldId xmlns:r="http://schemas.openxmlformats.org/officeDocument/2006/relationships" id="259" r:id="R24cf70bbf4a7426e"/>
    <p:sldId xmlns:r="http://schemas.openxmlformats.org/officeDocument/2006/relationships" id="260" r:id="R1c2ca6dce5304a79"/>
    <p:sldId xmlns:r="http://schemas.openxmlformats.org/officeDocument/2006/relationships" id="261" r:id="R402654d5be3948aa"/>
    <p:sldId xmlns:r="http://schemas.openxmlformats.org/officeDocument/2006/relationships" id="262" r:id="R8a174490629646bd"/>
    <p:sldId xmlns:r="http://schemas.openxmlformats.org/officeDocument/2006/relationships" id="263" r:id="Re538390bb9894c19"/>
    <p:sldId xmlns:r="http://schemas.openxmlformats.org/officeDocument/2006/relationships" id="264" r:id="R081d437893d1498e"/>
    <p:sldId xmlns:r="http://schemas.openxmlformats.org/officeDocument/2006/relationships" id="265" r:id="Rdf5f77f9ff2549f3"/>
    <p:sldId xmlns:r="http://schemas.openxmlformats.org/officeDocument/2006/relationships" id="266" r:id="Re7c1beb5d88440a2"/>
    <p:sldId xmlns:r="http://schemas.openxmlformats.org/officeDocument/2006/relationships" id="267" r:id="R489e226acd8045aa"/>
    <p:sldId xmlns:r="http://schemas.openxmlformats.org/officeDocument/2006/relationships" id="268" r:id="R871903f3c9634bf0"/>
    <p:sldId xmlns:r="http://schemas.openxmlformats.org/officeDocument/2006/relationships" id="269" r:id="R53b2482849a64ebf"/>
    <p:sldId xmlns:r="http://schemas.openxmlformats.org/officeDocument/2006/relationships" id="270" r:id="R361227b4d2a9482b"/>
    <p:sldId xmlns:r="http://schemas.openxmlformats.org/officeDocument/2006/relationships" id="271" r:id="Rccf058f6d2f24944"/>
    <p:sldId xmlns:r="http://schemas.openxmlformats.org/officeDocument/2006/relationships" id="272" r:id="R3e6636ac2fd54240"/>
    <p:sldId xmlns:r="http://schemas.openxmlformats.org/officeDocument/2006/relationships" id="273" r:id="Rc1c4f0a706a84d7d"/>
    <p:sldId xmlns:r="http://schemas.openxmlformats.org/officeDocument/2006/relationships" id="274" r:id="Re32165c6f19d4b97"/>
    <p:sldId xmlns:r="http://schemas.openxmlformats.org/officeDocument/2006/relationships" id="275" r:id="Rd399090fdf3b4fe4"/>
    <p:sldId xmlns:r="http://schemas.openxmlformats.org/officeDocument/2006/relationships" id="276" r:id="R48246a4fa3854342"/>
    <p:sldId xmlns:r="http://schemas.openxmlformats.org/officeDocument/2006/relationships" id="277" r:id="R554c121311a84d24"/>
    <p:sldId xmlns:r="http://schemas.openxmlformats.org/officeDocument/2006/relationships" id="278" r:id="Ra20820ebc5f949d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5350f27dcb4286" /><Relationship Type="http://schemas.openxmlformats.org/officeDocument/2006/relationships/slideMaster" Target="/ppt/slideMasters/slideMaster1.xml" Id="Ra7c887dbd1ec4da0" /><Relationship Type="http://schemas.openxmlformats.org/officeDocument/2006/relationships/notesMaster" Target="/ppt/notesMasters/notesMaster1.xml" Id="R4de1cb992d934b00" /><Relationship Type="http://schemas.openxmlformats.org/officeDocument/2006/relationships/presProps" Target="/ppt/presProps.xml" Id="R5e1622c9e8d44cee" /><Relationship Type="http://schemas.openxmlformats.org/officeDocument/2006/relationships/viewProps" Target="/ppt/viewProps.xml" Id="Raff44e7441704af9" /><Relationship Type="http://schemas.openxmlformats.org/officeDocument/2006/relationships/tableStyles" Target="/ppt/tableStyles.xml" Id="R1e9c819b353448f5" /><Relationship Type="http://schemas.openxmlformats.org/officeDocument/2006/relationships/slide" Target="/ppt/slides/slide1.xml" Id="Rd009d32056f04d73" /><Relationship Type="http://schemas.openxmlformats.org/officeDocument/2006/relationships/slide" Target="/ppt/slides/slide2.xml" Id="Rd1066fc5977a4bfa" /><Relationship Type="http://schemas.openxmlformats.org/officeDocument/2006/relationships/slide" Target="/ppt/slides/slide3.xml" Id="R77bc7212cc4a4b3e" /><Relationship Type="http://schemas.openxmlformats.org/officeDocument/2006/relationships/slide" Target="/ppt/slides/slide4.xml" Id="R24cf70bbf4a7426e" /><Relationship Type="http://schemas.openxmlformats.org/officeDocument/2006/relationships/slide" Target="/ppt/slides/slide5.xml" Id="R1c2ca6dce5304a79" /><Relationship Type="http://schemas.openxmlformats.org/officeDocument/2006/relationships/slide" Target="/ppt/slides/slide6.xml" Id="R402654d5be3948aa" /><Relationship Type="http://schemas.openxmlformats.org/officeDocument/2006/relationships/slide" Target="/ppt/slides/slide7.xml" Id="R8a174490629646bd" /><Relationship Type="http://schemas.openxmlformats.org/officeDocument/2006/relationships/slide" Target="/ppt/slides/slide8.xml" Id="Re538390bb9894c19" /><Relationship Type="http://schemas.openxmlformats.org/officeDocument/2006/relationships/slide" Target="/ppt/slides/slide9.xml" Id="R081d437893d1498e" /><Relationship Type="http://schemas.openxmlformats.org/officeDocument/2006/relationships/slide" Target="/ppt/slides/slide10.xml" Id="Rdf5f77f9ff2549f3" /><Relationship Type="http://schemas.openxmlformats.org/officeDocument/2006/relationships/slide" Target="/ppt/slides/slide11.xml" Id="Re7c1beb5d88440a2" /><Relationship Type="http://schemas.openxmlformats.org/officeDocument/2006/relationships/slide" Target="/ppt/slides/slide12.xml" Id="R489e226acd8045aa" /><Relationship Type="http://schemas.openxmlformats.org/officeDocument/2006/relationships/slide" Target="/ppt/slides/slide13.xml" Id="R871903f3c9634bf0" /><Relationship Type="http://schemas.openxmlformats.org/officeDocument/2006/relationships/slide" Target="/ppt/slides/slide14.xml" Id="R53b2482849a64ebf" /><Relationship Type="http://schemas.openxmlformats.org/officeDocument/2006/relationships/slide" Target="/ppt/slides/slide15.xml" Id="R361227b4d2a9482b" /><Relationship Type="http://schemas.openxmlformats.org/officeDocument/2006/relationships/slide" Target="/ppt/slides/slide16.xml" Id="Rccf058f6d2f24944" /><Relationship Type="http://schemas.openxmlformats.org/officeDocument/2006/relationships/slide" Target="/ppt/slides/slide17.xml" Id="R3e6636ac2fd54240" /><Relationship Type="http://schemas.openxmlformats.org/officeDocument/2006/relationships/slide" Target="/ppt/slides/slide18.xml" Id="Rc1c4f0a706a84d7d" /><Relationship Type="http://schemas.openxmlformats.org/officeDocument/2006/relationships/slide" Target="/ppt/slides/slide19.xml" Id="Re32165c6f19d4b97" /><Relationship Type="http://schemas.openxmlformats.org/officeDocument/2006/relationships/slide" Target="/ppt/slides/slide20.xml" Id="Rd399090fdf3b4fe4" /><Relationship Type="http://schemas.openxmlformats.org/officeDocument/2006/relationships/slide" Target="/ppt/slides/slide21.xml" Id="R48246a4fa3854342" /><Relationship Type="http://schemas.openxmlformats.org/officeDocument/2006/relationships/slide" Target="/ppt/slides/slide22.xml" Id="R554c121311a84d24" /><Relationship Type="http://schemas.openxmlformats.org/officeDocument/2006/relationships/slide" Target="/ppt/slides/slide23.xml" Id="Ra20820ebc5f949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5e590f247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422b000934fa2" /><Relationship Type="http://schemas.openxmlformats.org/officeDocument/2006/relationships/notesMaster" Target="/ppt/notesMasters/notesMaster1.xml" Id="Rdbe9c7bab78e4f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1d4c0de81548b0" /><Relationship Type="http://schemas.openxmlformats.org/officeDocument/2006/relationships/notesMaster" Target="/ppt/notesMasters/notesMaster1.xml" Id="R713ebf7cb2b2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b1034a4aeb417a" /><Relationship Type="http://schemas.openxmlformats.org/officeDocument/2006/relationships/notesMaster" Target="/ppt/notesMasters/notesMaster1.xml" Id="R11bc62f434b844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8b507fb484b03" /><Relationship Type="http://schemas.openxmlformats.org/officeDocument/2006/relationships/notesMaster" Target="/ppt/notesMasters/notesMaster1.xml" Id="R37c67ddcc81a49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0ed83dbca4483" /><Relationship Type="http://schemas.openxmlformats.org/officeDocument/2006/relationships/notesMaster" Target="/ppt/notesMasters/notesMaster1.xml" Id="R3df527042f4148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6664b69c0c47ec" /><Relationship Type="http://schemas.openxmlformats.org/officeDocument/2006/relationships/notesMaster" Target="/ppt/notesMasters/notesMaster1.xml" Id="R8dc0a45c0645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917dc1d5d3478d" /><Relationship Type="http://schemas.openxmlformats.org/officeDocument/2006/relationships/notesMaster" Target="/ppt/notesMasters/notesMaster1.xml" Id="R5e207fdedb7948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e401a8f4ff4176" /><Relationship Type="http://schemas.openxmlformats.org/officeDocument/2006/relationships/notesMaster" Target="/ppt/notesMasters/notesMaster1.xml" Id="R64b5f2e2512944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0d9acf6dd0457b" /><Relationship Type="http://schemas.openxmlformats.org/officeDocument/2006/relationships/notesMaster" Target="/ppt/notesMasters/notesMaster1.xml" Id="Rff66c6dd036f46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04b583968d46ef" /><Relationship Type="http://schemas.openxmlformats.org/officeDocument/2006/relationships/notesMaster" Target="/ppt/notesMasters/notesMaster1.xml" Id="R1b8000a144274d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38fcba502b4b6e" /><Relationship Type="http://schemas.openxmlformats.org/officeDocument/2006/relationships/notesMaster" Target="/ppt/notesMasters/notesMaster1.xml" Id="R5901cfecb4f643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5003b2eeb04af9" /><Relationship Type="http://schemas.openxmlformats.org/officeDocument/2006/relationships/notesMaster" Target="/ppt/notesMasters/notesMaster1.xml" Id="R3715a2dfe4b244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4b555f163b4815" /><Relationship Type="http://schemas.openxmlformats.org/officeDocument/2006/relationships/notesMaster" Target="/ppt/notesMasters/notesMaster1.xml" Id="R9916c16f4baf4b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27e068a6e44e3c" /><Relationship Type="http://schemas.openxmlformats.org/officeDocument/2006/relationships/notesMaster" Target="/ppt/notesMasters/notesMaster1.xml" Id="R2d843580267b4e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9e8e91eb944cd1" /><Relationship Type="http://schemas.openxmlformats.org/officeDocument/2006/relationships/notesMaster" Target="/ppt/notesMasters/notesMaster1.xml" Id="Ra433e43b41f94c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03e32fa4d7488e" /><Relationship Type="http://schemas.openxmlformats.org/officeDocument/2006/relationships/notesMaster" Target="/ppt/notesMasters/notesMaster1.xml" Id="Rafa4d896b55741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76f18475764af5" /><Relationship Type="http://schemas.openxmlformats.org/officeDocument/2006/relationships/notesMaster" Target="/ppt/notesMasters/notesMaster1.xml" Id="R1cd63cf6cf3248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125f699d814e7e" /><Relationship Type="http://schemas.openxmlformats.org/officeDocument/2006/relationships/notesMaster" Target="/ppt/notesMasters/notesMaster1.xml" Id="R41e1e3f56b1f42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6d5e02311e491a" /><Relationship Type="http://schemas.openxmlformats.org/officeDocument/2006/relationships/notesMaster" Target="/ppt/notesMasters/notesMaster1.xml" Id="R422e85cd4d6742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3e25bd53de4ba9" /><Relationship Type="http://schemas.openxmlformats.org/officeDocument/2006/relationships/notesMaster" Target="/ppt/notesMasters/notesMaster1.xml" Id="Rece804b3a32f4d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aa8937375445cf" /><Relationship Type="http://schemas.openxmlformats.org/officeDocument/2006/relationships/notesMaster" Target="/ppt/notesMasters/notesMaster1.xml" Id="R944044b0165c4f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211e65d2134238" /><Relationship Type="http://schemas.openxmlformats.org/officeDocument/2006/relationships/notesMaster" Target="/ppt/notesMasters/notesMaster1.xml" Id="R00e77d24517149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bbd3f5d00340da" /><Relationship Type="http://schemas.openxmlformats.org/officeDocument/2006/relationships/notesMaster" Target="/ppt/notesMasters/notesMaster1.xml" Id="Rc2459ae25c0f4f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hash table implements a map or set. The bucket index is an internal location, not the key itself. A map associates values with keys. A set stores keys only. The algorithm examples later use integer sets to keep the mechanics visible. In a map, inserting an existing key usually updates its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https://opendsa-server.cs.vt.edu/ODSA/Books/CS3/html/HashFunc.html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branch adds m only to a negative remainder. It avoids the signed overflow risk of unconditionally computing (key % m + m) % m for a very large m. Table size must be 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https://opendsa-server.cs.vt.edu/ODSA/Books/CS3/html/HashFuncExamp.html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fixed eight-digit decimal square convention. Leading zeros are conceptual. Integer division extracts the same position without string conversion. The stated key bound makes multiplication safe. A different key width requires a different extraction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https://opendsa-server.cs.vt.edu/ODSA/Books/CS3/html/HashFuncExamp.html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Fractional-part multiplicative hashing is a textbook method. The worked calculation is original. The C++ example intentionally limits keys and uses long double. It does not promise identical rounding behavior for arbitrary large inputs across platforms, and is not a production hash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https://ocw.mit.edu/courses/6-006-introduction-to-algorithms-spring-2020/resources/lecture-4-hashing/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set insertion routine using vectors as chains. It prevents duplicate keys. std::find gives the same lookup mechanism. Erase the matching iterator to delete. Vector insertion at the end is amortized constant time, but scanning a bucket is proportional to its length. The snippet requires the displayed headers and compiles as a translation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https://ocw.mit.edu/courses/6-006-introduction-to-algorithms-spring-2020/resources/lecture-4-hashing/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C++17. The optional equality comparison tests the stored value when occupied. Returning true for an existing key means the key is present after the operation, not that a new entry was added. This insertion-only example has no tombstones. The same routine would need additional state and duplicate handling if deletion were added.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https://opendsa-server.cs.vt.edu/ODSA/Books/CS3/html/HashCImproved.html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C++17, insertion-only. For m = 11, offsets are 0,1,4,9,5,3,3,5,9,4,1. There are six distinct residues. The theorem uses prime table size, squared offsets and occupancy strictly below one half before insertion. A full implementation should track load and grow before violating its selected threshold. For a large m, widen i*i to avoid integer overflow.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https://opendsa-server.cs.vt.edu/ODSA/Books/CS3/html/HashCImproved.html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C++17, insertion-only, with nonnegative keys no greater than INT_MAX because slots store int. For this small fixed m all arithmetic is safe. Coprimality ensures that all 11 slots are visited. Two keys may still have identical home and step, so double hashing does not eliminate all collisions.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https://opendsa-server.cs.vt.edu/ODSA/Books/CS3/html/HashCImproved.html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Load factor alpha = n/m. Chaining can have alpha above 1. Open addressing needs spare capacity for efficient insertion. Fixed-width key hashing and equality are assumed in the expected O(1) bound. Geometric growth with well-distributed hashing gives expected amortized O(1) insertion, although one rebuild costs O(n) under these assumptions. A tombstone means continue probing. EMPTY terminates an unsuccessful lookup. Reuse a tombstone on insertion only after checking the remaining sequence for a duplicate.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https://ocw.mit.edu/courses/6-006-introduction-to-algorithms-spring-2020/resources/lecture-4-hashing/</a:t>
            </a:r>
          </a:p>
          <a:p xmlns:a="http://schemas.openxmlformats.org/drawingml/2006/main">
            <a:r>
              <a:t>https://opendsa-server.cs.vt.edu/ODSA/Books/CS3/html/HashDel.html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summarizes the properties explained earlier. All methods can degrade to linear time in the worst case. Expected constant dictionary time assumes well-distributed hashing and bounded load. For the particular prime-size i-squared quadratic scheme shown here, stay below half occupancy to use the stated free-slot guarantee. Other quadratic variants have different conditions. Tombstones are one option for open-addressing deletion, not the only possible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https://opendsa-server.cs.vt.edu/ODSA/Books/CS3/html/HashCImproved.html</a:t>
            </a:r>
          </a:p>
          <a:p xmlns:a="http://schemas.openxmlformats.org/drawingml/2006/main">
            <a:r>
              <a:t>https://opendsa-server.cs.vt.edu/ODSA/Books/CS3/html/HashDel.html</a:t>
            </a:r>
          </a:p>
          <a:p xmlns:a="http://schemas.openxmlformats.org/drawingml/2006/main">
            <a:r>
              <a:t>https://ocw.mit.edu/courses/6-006-introduction-to-algorithms-spring-2020/resources/lecture-4-hashing/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6745e554c47f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d51a5edc94c2e" /><Relationship Type="http://schemas.openxmlformats.org/officeDocument/2006/relationships/slideLayout" Target="/ppt/slideLayouts/slideLayout1.xml" Id="R87ab7a18268742a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b7a18268742a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14b96b9924e3f" /><Relationship Type="http://schemas.openxmlformats.org/officeDocument/2006/relationships/notesSlide" Target="/ppt/notesSlides/notesSlide1.xml" Id="R5fa5d5d003d3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24d1b36df4a68" /><Relationship Type="http://schemas.openxmlformats.org/officeDocument/2006/relationships/notesSlide" Target="/ppt/notesSlides/notesSlide2.xml" Id="Rc1f78f57572a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5cd8384e450d" /><Relationship Type="http://schemas.openxmlformats.org/officeDocument/2006/relationships/notesSlide" Target="/ppt/notesSlides/notesSlide3.xml" Id="R7f9feacff3f045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fed0510b04b63" /><Relationship Type="http://schemas.openxmlformats.org/officeDocument/2006/relationships/notesSlide" Target="/ppt/notesSlides/notesSlide4.xml" Id="R9fb6ffff6a2b40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43c3953c14854" /><Relationship Type="http://schemas.openxmlformats.org/officeDocument/2006/relationships/notesSlide" Target="/ppt/notesSlides/notesSlide5.xml" Id="R7326794601c646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e4dad7b6a47a7" /><Relationship Type="http://schemas.openxmlformats.org/officeDocument/2006/relationships/notesSlide" Target="/ppt/notesSlides/notesSlide6.xml" Id="R31c7c4fc963643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003d0ab24f03" /><Relationship Type="http://schemas.openxmlformats.org/officeDocument/2006/relationships/notesSlide" Target="/ppt/notesSlides/notesSlide7.xml" Id="Rd2980020e26f4f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c8a0137984a2a" /><Relationship Type="http://schemas.openxmlformats.org/officeDocument/2006/relationships/notesSlide" Target="/ppt/notesSlides/notesSlide8.xml" Id="R24534139eedd4f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a072eb55746c4" /><Relationship Type="http://schemas.openxmlformats.org/officeDocument/2006/relationships/notesSlide" Target="/ppt/notesSlides/notesSlide9.xml" Id="R98f0b48d771743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a77dde68c4330" /><Relationship Type="http://schemas.openxmlformats.org/officeDocument/2006/relationships/notesSlide" Target="/ppt/notesSlides/notesSlide10.xml" Id="Rcb330123bb3343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99f8bfa534b7f" /><Relationship Type="http://schemas.openxmlformats.org/officeDocument/2006/relationships/notesSlide" Target="/ppt/notesSlides/notesSlide11.xml" Id="Rf474c82695de44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eb7d4499a4316" /><Relationship Type="http://schemas.openxmlformats.org/officeDocument/2006/relationships/notesSlide" Target="/ppt/notesSlides/notesSlide12.xml" Id="R0f509d08be4e41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78f6b8c994436" /><Relationship Type="http://schemas.openxmlformats.org/officeDocument/2006/relationships/notesSlide" Target="/ppt/notesSlides/notesSlide13.xml" Id="Rf03b31012ac945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348cd54e04dfe" /><Relationship Type="http://schemas.openxmlformats.org/officeDocument/2006/relationships/notesSlide" Target="/ppt/notesSlides/notesSlide14.xml" Id="R486cf9ed3f284a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5e7aaff7443d" /><Relationship Type="http://schemas.openxmlformats.org/officeDocument/2006/relationships/notesSlide" Target="/ppt/notesSlides/notesSlide15.xml" Id="R0d4293d4e99f49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98e6b70d1420c" /><Relationship Type="http://schemas.openxmlformats.org/officeDocument/2006/relationships/notesSlide" Target="/ppt/notesSlides/notesSlide16.xml" Id="Rd931d9e4e9ef40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a04b6a466457c" /><Relationship Type="http://schemas.openxmlformats.org/officeDocument/2006/relationships/notesSlide" Target="/ppt/notesSlides/notesSlide17.xml" Id="Rbab73f06178246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a52e08be9447c" /><Relationship Type="http://schemas.openxmlformats.org/officeDocument/2006/relationships/notesSlide" Target="/ppt/notesSlides/notesSlide18.xml" Id="R9ec06993b0274a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28ec48db34f33" /><Relationship Type="http://schemas.openxmlformats.org/officeDocument/2006/relationships/notesSlide" Target="/ppt/notesSlides/notesSlide19.xml" Id="R4e9396b703a14e1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24837c18e4309" /><Relationship Type="http://schemas.openxmlformats.org/officeDocument/2006/relationships/notesSlide" Target="/ppt/notesSlides/notesSlide20.xml" Id="R47c967c48f4c4d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375b3d9df46b0" /><Relationship Type="http://schemas.openxmlformats.org/officeDocument/2006/relationships/notesSlide" Target="/ppt/notesSlides/notesSlide21.xml" Id="R3fd48e98a79e4c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36e1ccc92495b" /><Relationship Type="http://schemas.openxmlformats.org/officeDocument/2006/relationships/notesSlide" Target="/ppt/notesSlides/notesSlide22.xml" Id="R2eb241658b6d4c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91f40e99d4375" /><Relationship Type="http://schemas.openxmlformats.org/officeDocument/2006/relationships/notesSlide" Target="/ppt/notesSlides/notesSlide23.xml" Id="R0875a04b059d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A0633B-ACF7-424E-9FAD-5E36CBF3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4360"/>
            <a:ext cx="4937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9E7F0"/>
                </a:solidFill>
              </a:rPr>
              <a:t>DATA STRUCTURES &amp; ALGORITHMS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0F28A0-54B8-4E57-A5AA-DCACD569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78992"/>
            <a:ext cx="60350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4F7FF"/>
                </a:solidFill>
              </a:rPr>
              <a:t>Search Algorithms</a:t>
            </a:r>
            <a:endParaRPr sz="3800"/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4F7FF"/>
                </a:solidFill>
              </a:rPr>
              <a:t>&amp; Hash Tables</a:t>
            </a:r>
            <a:endParaRPr sz="3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4FB120E-B173-477B-88DF-1466461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24912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3D0"/>
                </a:solidFill>
              </a:rPr>
              <a:t>Choose the right structure. Find the right way.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7A125B-A252-472A-85F9-CA98F842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5303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10">
                <a:solidFill>
                  <a:srgbClr val="39E7F0"/>
                </a:solidFill>
              </a:rPr>
              <a:t>LINEAR  •  BINARY  •  INTERPOLATION  •  HASH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6C7FC86-0E63-4BB8-BA76-A294B10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9335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790463-5760-4274-B11E-6B53C587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8620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9B3D0"/>
                </a:solidFill>
              </a:rPr>
              <a:t>From O(n) scanning to O(1) average key lookup</a:t>
            </a:r>
            <a:endParaRPr sz="11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C9BDD3-B41B-4663-90B5-84BE2434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37360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SCAN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89F5A8-085E-479A-8D09-DF3F6B24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94767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B84D"/>
                </a:solidFill>
              </a:rPr>
              <a:t>O(n)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E97DAF-4C2C-4DF9-8ED8-465F2096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377440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HALVE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A89281-51BE-4EFD-A3DC-77075C4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A77BFF"/>
                </a:solidFill>
              </a:rPr>
              <a:t>O(log n)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AFEBD6-2755-4458-B932-410CD851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017520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MAP</a:t>
            </a:r>
            <a:endParaRPr sz="8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E47352-836E-4CBF-B708-B3D0C438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22783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5EE6A8"/>
                </a:solidFill>
              </a:rPr>
              <a:t>O(1)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FABD97B-EDDE-47B1-8F07-D8FBF4FA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74904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9E7F0"/>
            </a:solidFill>
            <a:prstDash val="solid"/>
            <a:headEnd type="none"/>
            <a:tailEnd type="triangle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91702E8-F60F-4150-88A5-705CC0AB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58444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9E7F0"/>
                </a:solidFill>
              </a:rPr>
              <a:t>hash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9725820-7EC2-41AB-9B7A-E4B664C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ED052F-CA66-4DF8-B300-AEA3ADD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47055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B2C066-D383-4D8B-B447-972D9DBC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THE BIG PICTURE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9A367C-BEA7-4F95-8233-3DC6B885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Four ways to find a value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652D92-0B00-4BEF-AE67-2971179F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75CA070-76A9-44F3-8BCA-263284F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D20AE3F-675A-4546-8606-D90B645D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502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B84D"/>
                </a:solidFill>
              </a:rPr>
              <a:t>01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396630-B125-4E51-B794-57F8B90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2148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7FF"/>
                </a:solidFill>
              </a:rPr>
              <a:t>LINEAR SEARCH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83B6F5-3DFB-4A86-8035-3D563A9E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9B3D0"/>
                </a:solidFill>
              </a:rPr>
              <a:t>Check each element from start to finish.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4DA45A-ECAE-4AD5-A667-2748F929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27248"/>
            <a:ext cx="2057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B84D"/>
                </a:solidFill>
              </a:rPr>
              <a:t>O(n)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E48DEBD-A517-444E-A7DF-60724B96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B84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E36C1A7-36CF-43DB-AA81-34EA2F4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17320"/>
            <a:ext cx="502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77BFF"/>
                </a:solidFill>
              </a:rPr>
              <a:t>02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5E4AEE-A631-4C16-9B31-7CCEF3FA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83080"/>
            <a:ext cx="2148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7FF"/>
                </a:solidFill>
              </a:rPr>
              <a:t>BINARY SEARCH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8135FA-B8AA-4CD4-8CB7-106C0D9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2128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9B3D0"/>
                </a:solidFill>
              </a:rPr>
              <a:t>Repeatedly halve a sorted search range.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8486AB-D0D6-4EBD-A12C-0B891E11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27248"/>
            <a:ext cx="2057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A77BFF"/>
                </a:solidFill>
              </a:rPr>
              <a:t>O(log n)</a:t>
            </a:r>
            <a:endParaRPr sz="1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89B87D6-450C-4D20-9518-7B4622F1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840480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77B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56D1CBE-0B8D-4B49-8C31-2A5EDD3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502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39E7F0"/>
                </a:solidFill>
              </a:rPr>
              <a:t>03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89DBF3-9C3E-475B-9CF4-25F2CEA8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2148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7FF"/>
                </a:solidFill>
              </a:rPr>
              <a:t>INTERPOLATION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9293A69-C100-4CFA-819F-FF8E9B3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128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9B3D0"/>
                </a:solidFill>
              </a:rPr>
              <a:t>Estimate position in uniformly distributed data.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B85845-0B53-45FF-96E4-4DD3284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27248"/>
            <a:ext cx="2057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39E7F0"/>
                </a:solidFill>
              </a:rPr>
              <a:t>O(log log n) avg.</a:t>
            </a:r>
            <a:endParaRPr sz="1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97181E3-A129-4E14-AA53-2C78811D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9E7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690FE28-DAB5-4427-A7E4-5ABB78A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502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EE6A8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B8D3855-4C85-4FB1-99B7-8D6C384E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83080"/>
            <a:ext cx="2148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4F7FF"/>
                </a:solidFill>
              </a:rPr>
              <a:t>HASH TABLES</a:t>
            </a:r>
            <a:endParaRPr sz="13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26572C-709C-4C80-B54A-845D09B6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128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9B3D0"/>
                </a:solidFill>
              </a:rPr>
              <a:t>Map a key to an address in the table.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1E95CA4-4F2D-440B-B2C7-A33A962E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7248"/>
            <a:ext cx="2057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5EE6A8"/>
                </a:solidFill>
              </a:rPr>
              <a:t>O(1) avg.</a:t>
            </a:r>
            <a:endParaRPr sz="18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CEA2E7C-8039-4486-9345-2DDA428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840480"/>
            <a:ext cx="1920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EE6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6763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1939CE-B2DA-4131-A97C-DB5849E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01 · LINEAR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82769B-3D06-4034-951B-03774AE2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Simple, sequential, and universally applicable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B9EEFC-C206-400F-8858-E231B29A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3B68C4-8E59-4D9E-8B42-6DC4EEE2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B637CAF-76AC-4C4D-8F90-EBFD113D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3716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7FF"/>
                </a:solidFill>
              </a:rPr>
              <a:t>Compare the target with each element in order. Return its index when found, or −1 after scanning the whole array.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F4E579E-C950-42F0-87BE-3BE94070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23160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BEST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156A68-299E-49C7-A994-C20543B2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3347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5EE6A8"/>
                </a:solidFill>
              </a:rPr>
              <a:t>O(1)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96A25C8-5900-4AC4-8661-59535C01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423160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AVERAGE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73CF7C-4433-49B0-93AE-F925C5F0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63347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B84D"/>
                </a:solidFill>
              </a:rPr>
              <a:t>O(n)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A913CB-162C-42A8-888D-38E3A4C8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423160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WORST</a:t>
            </a:r>
            <a:endParaRPr sz="8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BB5F58-7CA2-42F4-A5DE-DAB6E04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633472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4FA3"/>
                </a:solidFill>
              </a:rPr>
              <a:t>O(n)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1276CE1-9958-44F5-A86B-98B7D45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874520"/>
            <a:ext cx="7772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417A75-A30E-4438-82A1-110DBFA7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95681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14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F159C3-7B78-4BC7-A892-AC7AD5F5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432304"/>
            <a:ext cx="777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0</a:t>
            </a:r>
            <a:endParaRPr sz="7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05D9C7-8F07-4204-9E2E-4561B921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874520"/>
            <a:ext cx="7772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9E68277-DB38-4AB4-8364-1B6F44E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5681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7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5095626-8BAF-47C4-8604-B23EF4E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432304"/>
            <a:ext cx="777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1</a:t>
            </a:r>
            <a:endParaRPr sz="7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BCAAA72-107E-40A6-81C5-F1A768EE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1874520"/>
            <a:ext cx="7772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3B54"/>
          </a:solidFill>
          <a:ln xmlns:a="http://schemas.openxmlformats.org/drawingml/2006/main" w="12700">
            <a:solidFill>
              <a:srgbClr val="39E7F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89B6BE-6F4D-4AC1-A301-A65CC52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195681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9E7F0"/>
                </a:solidFill>
              </a:rPr>
              <a:t>21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A485327-1350-497B-989F-E76D694C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2432304"/>
            <a:ext cx="777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2</a:t>
            </a:r>
            <a:endParaRPr sz="7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8F0C3F5-0891-48D5-AA06-2B4F5AC0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874520"/>
            <a:ext cx="7772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E712FCF-7D0D-4DD9-B873-DE9CDE8E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95681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4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85819E9-8506-442D-AA81-DC37DC4A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432304"/>
            <a:ext cx="777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3</a:t>
            </a:r>
            <a:endParaRPr sz="7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C61B8CB-B210-45E1-95D1-B9D2F366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74520"/>
            <a:ext cx="7772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8DE0AB-CED7-4FE2-9EF3-B1A2F87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956816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18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298B34F-764A-4EEE-AE8B-32DCF4E0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432304"/>
            <a:ext cx="777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4</a:t>
            </a:r>
            <a:endParaRPr sz="7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D549CEA-5916-43D2-86F7-9F13141B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B84D"/>
                </a:solidFill>
              </a:rPr>
              <a:t>scan left → right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5A4D997-6C1C-4B01-AD4A-1730C3DB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74904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F7FF"/>
                </a:solidFill>
              </a:rPr>
              <a:t>Works on unsorted data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777750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6348B8-2CEE-4A4D-BAD4-B152E4FC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LINEAR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C64660-CF16-4A35-AD10-4E706AB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Use linear search when simplicity beats preprocessing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82E648-3184-40FF-9688-B3E9198A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64B6DC-7D6C-415A-9B44-5567353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04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C4407B4-340C-47F8-BF0C-DAA8B71C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005840"/>
            <a:ext cx="91440" cy="9144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70A18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ADD0EF-121D-4E63-9D9D-D5D4120E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17320"/>
            <a:ext cx="4709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EE6A8"/>
                </a:solidFill>
              </a:rPr>
              <a:t>USE WHEN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18D6B4-B73B-440D-B784-49E766E7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01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1554E1F-8DCB-48A8-9B45-2F9EF63C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28216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list is small.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AB7CCEE-2E01-498E-ABFE-C25942EF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037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850798E-0E48-4E84-A9C2-17D4365A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0552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data is unsorted.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118A307-D2BA-406F-B244-78E04EE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060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D44909A-B764-418A-9E68-B11F97F1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32888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Random access is unavailable.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088652F-821D-4309-BDB6-422EE120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083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368A2C6-B5BB-4920-8E77-7C872D8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35224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Sorting costs more than it saves.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1B6C76-7ED6-4FF8-B64D-4490813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4FA3"/>
                </a:solidFill>
              </a:rPr>
              <a:t>AVOID WHEN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16E3D86-B9A6-45B1-BF25-3CB2A9C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CC97EC-B309-4D88-9BB8-09B33044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28216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dataset is very large.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F0D9943-6985-4B1E-887D-481CB0F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037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8611F0-41CA-4DC1-915C-0B1425F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30552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data is already sorted.</a:t>
            </a:r>
            <a:endParaRPr sz="11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1380569-B3C0-4F4B-9B86-6F33F47E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9A8D57D-539B-4C25-AB8E-2DDE614B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32888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same dataset is searched repeatedly.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1CFF314-8C18-4E86-911A-4701C92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667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4F7FF"/>
                </a:solidFill>
              </a:rPr>
              <a:t>Linear search is the safest default, but not the fastest repeated lookup.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610043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5DABA5-3E04-4D4D-BCEE-2E6D0DBE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LINEAR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B1934-DF19-4B4B-811F-100CCE0F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The algorithm translates directly into one loop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D276E0-4D1E-426E-BA72-ECD49FD3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1A73CED-CA2B-4FAB-B7B9-A2078322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05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8C5CD50-A433-4DF6-98A9-123F272D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42976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PROCEDURE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Linear_Search(Array, Target)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  FOR i = 0 TO length(Array)-1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    IF Array[i] = Target THEN RETURN i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  END FOR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  RETURN -1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FEB497B-E71F-4891-B4EB-4BBD141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25880"/>
            <a:ext cx="521208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CBAE6E5-7DDA-4E16-A009-D46C733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72184"/>
            <a:ext cx="1280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94A3B8"/>
                </a:solidFill>
              </a:rPr>
              <a:t>C++ demo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93007F-3BCC-4EFC-A6E7-804CEB2D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1755648"/>
            <a:ext cx="4754880" cy="2679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linearSearch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arr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arr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}</a:t>
            </a:r>
            <a:br/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25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}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810251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B0C80A-AB4C-459F-8E79-DCE3F14F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02 · BINARY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E68151-C45D-40F4-A663-BA6013F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Discard half of the range after every comparison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A7B40E-6DA2-468E-892D-13330E1C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B99A05-BC91-497F-84D9-6492C380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06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AB9273-77FC-4586-842C-E8349F99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371600"/>
            <a:ext cx="46634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7FF"/>
                </a:solidFill>
              </a:rPr>
              <a:t>Binary search finds a value in a sorted array by comparing the middle element and removing the half that cannot contain the target.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7DA21D-2EA2-46AF-8C26-9AE1636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8716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BEST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EACF6D-8FB5-4B5D-BE40-F9CDC66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97480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5EE6A8"/>
                </a:solidFill>
              </a:rPr>
              <a:t>O(1)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6E77797-A7EB-43E8-A290-09D48EE5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48716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AVERAGE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9C4064-B3CD-4CC1-AEB2-9AA93C4A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697480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A77BFF"/>
                </a:solidFill>
              </a:rPr>
              <a:t>O(log n)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A82FA3-BA9D-4ED9-A792-6ECCFB34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8716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A9B3D0"/>
                </a:solidFill>
              </a:rPr>
              <a:t>WORST</a:t>
            </a:r>
            <a:endParaRPr sz="8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C33D2E-ACE5-4EDC-B2AD-209C6A1B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1097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4FA3"/>
                </a:solidFill>
              </a:rPr>
              <a:t>O(log n)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C2FA117-8CD5-4C7B-BCA2-0B0152EA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D69870-F5D2-4402-A51D-DD9D77F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3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946C77-62C5-435E-9A05-FC412324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0</a:t>
            </a:r>
            <a:endParaRPr sz="7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5FC709D-928A-4543-8018-666845CF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9ADCA9-A45B-4477-B88B-34E08912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8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B881122-A188-45C6-9F0E-E8E85076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1</a:t>
            </a:r>
            <a:endParaRPr sz="7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E8CA701-CFAF-4A52-A68C-56F57D66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CC6B3CD-A222-4BD8-857E-678FF79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12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606D716-C3D5-4ADC-9519-D704EC1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2</a:t>
            </a:r>
            <a:endParaRPr sz="7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4A16CB5-AEDB-4A3E-A621-0F0F773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3B54"/>
          </a:solidFill>
          <a:ln xmlns:a="http://schemas.openxmlformats.org/drawingml/2006/main" w="12700">
            <a:solidFill>
              <a:srgbClr val="39E7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8C78392-DD26-4461-BE4A-434040E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9E7F0"/>
                </a:solidFill>
              </a:rPr>
              <a:t>17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5CB950C-AF9F-432C-B00B-BF9453C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3</a:t>
            </a:r>
            <a:endParaRPr sz="7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12BF202-03CB-4E24-8668-FD87C6C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405278E-6A14-4A7D-8CF5-2ED4BD52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23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BD22B8C-48E8-4B64-862A-585232D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4</a:t>
            </a:r>
            <a:endParaRPr sz="7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ED8E09B-6496-4842-B28D-B3295739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C2B3505-8355-4F69-A755-8BAA65DF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31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2CDA072-692A-45A0-9C6F-64CFCAB5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5</a:t>
            </a:r>
            <a:endParaRPr sz="7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5C3B41D-EA07-4B3A-829B-6C27D27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1783080"/>
            <a:ext cx="630936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B607335-E0DD-41CA-ABD3-6ACD11DF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1865376"/>
            <a:ext cx="630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42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F5310F-3F57-4FEA-B0C2-B24D2D1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331720"/>
            <a:ext cx="6309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6</a:t>
            </a:r>
            <a:endParaRPr sz="7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040E755-110E-4263-B804-A2943F82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43200"/>
            <a:ext cx="3383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A77BFF"/>
                </a:solidFill>
              </a:rPr>
              <a:t>target 31 &gt; midpoint 17</a:t>
            </a:r>
            <a:endParaRPr sz="12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4843426-5054-4C59-A22A-0951588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685800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C2B722B-597A-4236-BE99-26BAE1E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5576"/>
            <a:ext cx="685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23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A93898F-1BED-4ADA-9D95-6467E61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1920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0</a:t>
            </a:r>
            <a:endParaRPr sz="7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C00CE4A-3788-43FB-B10F-C075629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383280"/>
            <a:ext cx="685800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3B54"/>
          </a:solidFill>
          <a:ln xmlns:a="http://schemas.openxmlformats.org/drawingml/2006/main" w="12700">
            <a:solidFill>
              <a:srgbClr val="39E7F0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3C7BFBF5-9FC0-4AED-9519-A5737AE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65576"/>
            <a:ext cx="685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9E7F0"/>
                </a:solidFill>
              </a:rPr>
              <a:t>31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9E0725E-126B-4775-A802-5F497195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931920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1</a:t>
            </a:r>
            <a:endParaRPr sz="7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946B9728-3A1D-4FA6-9D1A-8EF5C2F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383280"/>
            <a:ext cx="685800" cy="493776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72544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4E78BDA-0279-4191-9AC3-11D010B6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465576"/>
            <a:ext cx="685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42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2607013-D09B-44ED-8CAF-4A51A5A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931920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2</a:t>
            </a:r>
            <a:endParaRPr sz="75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083362F-CD15-44B7-80CD-7C1F3CC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07408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F7FF"/>
                </a:solidFill>
              </a:rPr>
              <a:t>Requires sorted data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322120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53FC91-4B54-49A5-A950-4127A1E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BINARY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F31305-0B7E-4268-90E2-033977A9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Sorted, stable arrays unlock logarithmic search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8F637E-E205-4B79-87E3-43C16DD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7210103-DE2F-4E0E-A8C1-5F6F46B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07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14ED9AA-C52E-4D33-A49C-E3E0AA2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005840"/>
            <a:ext cx="91440" cy="9144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70A18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3C31CF-E6DE-4C20-9A72-471DDB25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17320"/>
            <a:ext cx="4709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EE6A8"/>
                </a:solidFill>
              </a:rPr>
              <a:t>USE WHEN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429325F-68C4-4228-8067-2783EBFA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01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E62855-9AD8-491E-8412-065BC016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28216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Large, sorted datasets.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9C9C77F-A9B4-42F9-AF46-392003BC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037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0854E7-59B5-485B-BD19-0A922C70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0552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Static or rarely changing data.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D42F5A-8FF5-4CCD-ABCA-5602068D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060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DEF9DB-07A4-410E-9304-17E49BA8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32888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Arrays or vectors with O(1) access.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3E4E8A2-425C-4B49-8C6D-7C2BEA95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083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0C2020-6879-45FF-8A00-65AA401C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35224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Boundary queries: first, last, insertion point.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53AAF3-8F5C-4CCB-B4EE-2E44D51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4FA3"/>
                </a:solidFill>
              </a:rPr>
              <a:t>AVOID WHEN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09FE305-0D4D-45F6-BA32-4322434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49EF601-2FD6-4454-A7AA-8CE2097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28216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Unsorted or frequently changing data.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ADBF7F2-9A7B-4E0A-A542-19673CA5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037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E611932-03C8-446F-945A-F4A8BF2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30552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Linked lists without fast middle access.</a:t>
            </a:r>
            <a:endParaRPr sz="11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054AF36-48E7-4ED4-A434-F383335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C06E986-EF20-4BD2-A55D-98DD30B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32888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Very small datasets.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F0A8F3B-7A7E-4B78-987E-9F83DFE5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667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4F7FF"/>
                </a:solidFill>
              </a:rPr>
              <a:t>Binary search trades setup requirements for predictable logarithmic speed.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53755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49B562-5CF4-4967-81D9-E15D72E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BINARY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DA960E-E86A-4463-96E7-436243B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Compute the midpoint without risking overflow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5678F3-0069-46A5-B529-209AF5D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73C06E-37BA-4600-BF7C-8BA20818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08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7CC286-FC59-4882-B807-E792C50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A77BFF"/>
                </a:solidFill>
              </a:rPr>
              <a:t>Key idea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B2961E-7921-486C-AAA2-B41313EA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4297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F7FF"/>
                </a:solidFill>
                <a:latin typeface="Consolas"/>
                <a:ea typeface="Consolas"/>
                <a:cs typeface="Consolas"/>
              </a:rPr>
              <a:t>mid = left + (right − left) / 2</a:t>
            </a:r>
            <a:endParaRPr sz="1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4D1FFB-256D-45A1-8332-9275CB4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95728"/>
            <a:ext cx="39776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3D0"/>
                </a:solidFill>
              </a:rPr>
              <a:t>Avoids overflow when left + right could exceed integer limits.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778287-AD2A-42B4-8C01-4E288BC7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34440"/>
            <a:ext cx="5577840" cy="4251960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A6B7C0-7F42-4DCE-A3B1-5BCE6D4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0744"/>
            <a:ext cx="1280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94A3B8"/>
                </a:solidFill>
              </a:rPr>
              <a:t>C++ demo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2E8082-243B-4922-97BF-523861CE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144" y="1664208"/>
            <a:ext cx="5120640" cy="3685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binarySearch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target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right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right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6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right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6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target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6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target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6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right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mid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}</a:t>
            </a:r>
            <a:br/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6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6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106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}</a:t>
            </a:r>
            <a:endParaRPr sz="1060"/>
          </a:p>
        </p:txBody>
      </p:sp>
    </p:spTree>
    <p:extLst>
      <p:ext uri="{BB962C8B-B14F-4D97-AF65-F5344CB8AC3E}">
        <p14:creationId xmlns:p14="http://schemas.microsoft.com/office/powerpoint/2010/main" val="10778560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4F082A-90D4-4C9F-A5E5-A509A5A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03 · INTERPOLATION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581E88-6B4D-452A-BF59-0F4F807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Estimate first, then narrow the search range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7F28D1-197A-4821-AADF-72C89E3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F51514-7BBF-429C-AF47-EA9AF54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09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2839DA-595A-44CA-A3BA-2FDFAD3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371600"/>
            <a:ext cx="4526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4F7FF"/>
                </a:solidFill>
              </a:rPr>
              <a:t>Instead of always checking the midpoint, interpolation search estimates a position from the target and the values at both ends of the range.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8812DC-21D2-42E3-A4AA-1D125D9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50592"/>
            <a:ext cx="39319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4F7FF"/>
                </a:solidFill>
              </a:rPr>
              <a:t>pos = low +</a:t>
            </a:r>
            <a:endParaRPr sz="1700"/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4F7FF"/>
                </a:solidFill>
              </a:rPr>
              <a:t>(x − a[low]) × (high − low)</a:t>
            </a:r>
            <a:endParaRPr sz="1700"/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4F7FF"/>
                </a:solidFill>
              </a:rPr>
              <a:t>───────────────</a:t>
            </a:r>
            <a:endParaRPr sz="1700"/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4F7FF"/>
                </a:solidFill>
              </a:rPr>
              <a:t>a[high] − a[low]</a:t>
            </a:r>
            <a:endParaRPr sz="17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645862C-4773-4446-B1D8-705D4F2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0618DA-7BDD-44E0-B220-A332799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10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11638F-CD26-4422-B034-24907AEF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0</a:t>
            </a:r>
            <a:endParaRPr sz="7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3A4E213-B0BB-4D43-AB1D-A3F3FB62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8DACA4A-4C29-4D1F-A8FE-DF83CBF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20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95470C-AD62-4241-8BF3-D9B3E76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1</a:t>
            </a:r>
            <a:endParaRPr sz="7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E4A0CD-B4AA-4CC6-ADD4-2C1C4222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F154F14-E9F7-46E9-AEFB-C9D68AE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30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2C1790D-8FE6-4906-B0DA-79EC3B5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2</a:t>
            </a:r>
            <a:endParaRPr sz="7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CC8C13-5311-4CDA-B6B3-3F4BAFB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78F61A-8DF7-4C48-BB75-1B1F0BC1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40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2AD0098-69BE-4D20-B2D2-574A334C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3</a:t>
            </a:r>
            <a:endParaRPr sz="7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3772F26-A784-4950-BF63-7790296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5F3E78B-F422-4176-8F36-83E7280D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50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37708DC-3120-45FC-A56D-FC2B38E0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4</a:t>
            </a:r>
            <a:endParaRPr sz="7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8788F3C-3D01-42A9-BABE-FB342C3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73B54"/>
          </a:solidFill>
          <a:ln xmlns:a="http://schemas.openxmlformats.org/drawingml/2006/main" w="12700">
            <a:solidFill>
              <a:srgbClr val="39E7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061077F-CD85-4CD3-8D6C-A2F3573A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9E7F0"/>
                </a:solidFill>
              </a:rPr>
              <a:t>60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2CE4F-4022-4FC7-8144-FAEC2E9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5</a:t>
            </a:r>
            <a:endParaRPr sz="7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D2C52D8-8DAC-4FB6-8302-A92387F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73B5D18-36E5-4C17-B6EA-2D7C904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70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0ACFA3E-CBB5-49AD-8334-A180148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6</a:t>
            </a:r>
            <a:endParaRPr sz="7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D4DCC0B-4FFB-4590-8A17-25832D42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828800"/>
            <a:ext cx="576072" cy="475488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1172D"/>
          </a:solidFill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3E88F3E-C297-4261-9043-ACE7C50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911096"/>
            <a:ext cx="576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7FF"/>
                </a:solidFill>
              </a:rPr>
              <a:t>80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6B48258-FB71-4F8E-BD34-ABBD83D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359152"/>
            <a:ext cx="576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A9B3D0"/>
                </a:solidFill>
              </a:rPr>
              <a:t>7</a:t>
            </a:r>
            <a:endParaRPr sz="7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9930088-E653-4EE4-BFD4-5EC102D4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896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F7FF"/>
                </a:solidFill>
              </a:rPr>
              <a:t>Best with uniform values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038137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E9348B-7A5D-418C-B3B0-1F97619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INTERPOLATION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F03AA2-0511-42D8-A756-F7949767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Its speed depends on the value distribution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D0C171-E2EF-4355-B99E-9996238D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0B0BB67-712C-4A3C-8DFD-195D1B11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10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A7F5195-4408-4138-B361-9BE5EB69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005840"/>
            <a:ext cx="91440" cy="9144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70A18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67B595D-2870-431E-9D94-3A357D92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17320"/>
            <a:ext cx="4709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EE6A8"/>
                </a:solidFill>
              </a:rPr>
              <a:t>USE WHEN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B00D2C-A212-46C4-90C7-3F7E819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01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5E1503B-5D70-4367-B06D-DEF68F0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28216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array is sorted.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DCAD89A-DE6A-4E30-B3D4-A119FBC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037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CFE7CCC-E7CC-45B9-9084-899B3B1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0552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Values are approximately uniform.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8486CA7-87A2-46F5-A106-1D8C6CC2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060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2EA589-ED18-4009-B3AF-7D18DAB8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32888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Large numeric dataset searched repeatedly.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DB79959-61B4-4652-9D3E-828F59DE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083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6A8"/>
          </a:solidFill>
          <a:ln xmlns:a="http://schemas.openxmlformats.org/drawingml/2006/main" w="12700">
            <a:solidFill>
              <a:srgbClr val="5EE6A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F0A0344-FC4F-4AEC-89B2-D3F687B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35224"/>
            <a:ext cx="4526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Random access is available.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276E71-F33C-4CDB-9AFC-F1EC538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4526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4FA3"/>
                </a:solidFill>
              </a:rPr>
              <a:t>AVOID WHEN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78F0348-D946-4502-9EC5-F357536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7CA2DF3-C0BB-4A79-A422-515BE7F0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28216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Values are skewed or clustered.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A48644E-7E29-4701-A38E-9ADA683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037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10A0478-10DC-4768-9ABB-4CDB7AC7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30552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array is unsorted.</a:t>
            </a:r>
            <a:endParaRPr sz="11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1A767EB-F55F-45DD-809E-08877017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A3"/>
          </a:solidFill>
          <a:ln xmlns:a="http://schemas.openxmlformats.org/drawingml/2006/main" w="12700">
            <a:solidFill>
              <a:srgbClr val="FF4FA3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C4BF771-80BE-4A28-BFB3-394A331D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32888"/>
            <a:ext cx="4343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4F7FF"/>
                </a:solidFill>
              </a:rPr>
              <a:t>The dataset is small.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C82591A-0FA0-478B-B752-DD09CD20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6672"/>
            <a:ext cx="10058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4F7FF"/>
                </a:solidFill>
              </a:rPr>
              <a:t>It can beat binary search on uniform numeric keys, but degrades on bad distributions.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644649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243F8F8-480D-4802-AA9D-FFD997C5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INTERPOLATION SEARCH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73BA42-632F-4385-B6D1-82855999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Guard against equal boundary values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FC3011-B243-4A6D-87B0-0A74487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CEEAACA-0194-4F26-9853-80AE96C9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11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39BE0E-7419-4511-A788-F1DE213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9E7F0"/>
                </a:solidFill>
              </a:rPr>
              <a:t>Core guard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8E39DFE-1DC0-4A9B-A807-3ADDA36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4160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7FF"/>
                </a:solidFill>
              </a:rPr>
              <a:t>If a[high] == a[low], avoid division by zero and check the boundary directly.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D97924D-FCA5-4AF4-A301-81B028E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261872"/>
            <a:ext cx="6126480" cy="466344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0D3768-9E0E-478B-B3AF-0AB100D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408176"/>
            <a:ext cx="1280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94A3B8"/>
                </a:solidFill>
              </a:rPr>
              <a:t>C++ demo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40635E6-2454-451D-BC43-4C5DF63E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691640"/>
            <a:ext cx="5669280" cy="4096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CDCAA"/>
                </a:solidFill>
                <a:latin typeface="Consolas"/>
                <a:ea typeface="Consolas"/>
                <a:cs typeface="Consolas"/>
              </a:rPr>
              <a:t>interpolationSearch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while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4EC9B0"/>
                </a:solidFill>
                <a:latin typeface="Consolas"/>
                <a:ea typeface="Consolas"/>
                <a:cs typeface="Consolas"/>
              </a:rPr>
              <a:t>double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*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         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low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high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pos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}</a:t>
            </a:r>
            <a:br/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00">
                <a:solidFill>
                  <a:srgbClr val="569CD6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0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00">
                <a:solidFill>
                  <a:srgbClr val="B5CEA8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;</a:t>
            </a:r>
            <a:br/>
            <a:r>
              <a:rPr sz="900">
                <a:solidFill>
                  <a:srgbClr val="C586C0"/>
                </a:solidFill>
                <a:latin typeface="Consolas"/>
                <a:ea typeface="Consolas"/>
                <a:cs typeface="Consolas"/>
              </a:rPr>
              <a:t>}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23776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ash tables, hashing and collisions">
            <a:extLst xmlns:a="http://schemas.openxmlformats.org/drawingml/2006/main">
              <a:ext uri="{FF2B5EF4-FFF2-40B4-BE49-F238E27FC236}">
                <a16:creationId xmlns:a16="http://schemas.microsoft.com/office/drawing/2014/main" id="{E4AF6394-7540-4C2C-BD0B-950924C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Hash tables, hashing and collisions</a:t>
            </a:r>
          </a:p>
        </p:txBody>
      </p:sp>
      <p:sp>
        <p:nvSpPr>
          <p:cNvPr id="2" name="A dictionary stores a value under a unique key">
            <a:extLst xmlns:a="http://schemas.openxmlformats.org/drawingml/2006/main">
              <a:ext uri="{FF2B5EF4-FFF2-40B4-BE49-F238E27FC236}">
                <a16:creationId xmlns:a16="http://schemas.microsoft.com/office/drawing/2014/main" id="{F84A7439-93B9-40BA-898F-F84DF37F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A dictionary stores a value under a unique key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C7E6E245-F7C2-4E54-ABCC-63F0869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0137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048125"/>
                <a:gridCol w="4333875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DEEB"/>
                          </a:solidFill>
                          <a:latin typeface="Aptos"/>
                          <a:ea typeface="Aptos"/>
                          <a:cs typeface="Aptos"/>
                        </a:rPr>
                        <a:t>Component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DEEB"/>
                          </a:solidFill>
                          <a:latin typeface="Aptos"/>
                          <a:ea typeface="Aptos"/>
                          <a:cs typeface="Aptos"/>
                        </a:rPr>
                        <a:t>Responsibility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DEEB"/>
                          </a:solidFill>
                          <a:latin typeface="Aptos"/>
                          <a:ea typeface="Aptos"/>
                          <a:cs typeface="Aptos"/>
                        </a:rPr>
                        <a:t>Example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Hash table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Stores key–value entries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Student ID 26: Lan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Hash function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Computes the home bucket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h(26) = 26 mod 10 = 6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Collision handling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Keeps distinct keys retrievable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16 and 26 share bucket 6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</a:tbl>
          </a:graphicData>
        </a:graphic>
      </p:graphicFrame>
      <p:sp>
        <p:nvSpPr>
          <p:cNvPr id="5" name="Equal hash values still require a key comparison.">
            <a:extLst xmlns:a="http://schemas.openxmlformats.org/drawingml/2006/main">
              <a:ext uri="{FF2B5EF4-FFF2-40B4-BE49-F238E27FC236}">
                <a16:creationId xmlns:a16="http://schemas.microsoft.com/office/drawing/2014/main" id="{D52B8EF4-B7F7-46BE-9827-8AEC129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Equal hash values still require a key comparison.</a:t>
            </a:r>
          </a:p>
        </p:txBody>
      </p:sp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3320B6A2-80E2-465F-A27D-226216C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38206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ivision hashing">
            <a:extLst xmlns:a="http://schemas.openxmlformats.org/drawingml/2006/main">
              <a:ext uri="{FF2B5EF4-FFF2-40B4-BE49-F238E27FC236}">
                <a16:creationId xmlns:a16="http://schemas.microsoft.com/office/drawing/2014/main" id="{69523192-7FAF-4199-B244-5A56004B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Division hashing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20967FA5-3FD1-41C8-B7B7-A9C159BB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20A51DA7-AB45-4CE4-AB7F-351B3136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4120CB65-812C-4737-BF28-3B5001B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336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hashKey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6F0DE7A-4085-4A17-8845-945663C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Precondition: m &gt; 0</a:t>
            </a: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666A676F-229F-41B4-B896-2F4BA37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y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17E81CBD-85D5-42F8-9216-376E1411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8E6E6D41-011D-4E14-9F19-A4E1CE3D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385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55EF1AB8-8D30-46E9-956B-BF501E5F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6232DB3-B5A1-46E3-A21A-F1B1A634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910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hashKey(26, 11) == 4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F2B4184-5BF0-41DA-BF09-A9EF1829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hashKey(-26, 11) == 7</a:t>
            </a:r>
          </a:p>
        </p:txBody>
      </p:sp>
      <p:sp>
        <p:nvSpPr>
          <p:cNvPr id="19" name="17">
            <a:extLst xmlns:a="http://schemas.openxmlformats.org/drawingml/2006/main">
              <a:ext uri="{FF2B5EF4-FFF2-40B4-BE49-F238E27FC236}">
                <a16:creationId xmlns:a16="http://schemas.microsoft.com/office/drawing/2014/main" id="{9F7DD740-649D-4D93-AEA9-EF9CEB7E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21" name="h(k) = k mod m">
            <a:extLst xmlns:a="http://schemas.openxmlformats.org/drawingml/2006/main">
              <a:ext uri="{FF2B5EF4-FFF2-40B4-BE49-F238E27FC236}">
                <a16:creationId xmlns:a16="http://schemas.microsoft.com/office/drawing/2014/main" id="{F95A608A-168D-4B26-8557-F4884806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h(k) = k mod m</a:t>
            </a:r>
          </a:p>
        </p:txBody>
      </p:sp>
      <p:sp>
        <p:nvSpPr>
          <p:cNvPr id="22" name="EXAMPLE">
            <a:extLst xmlns:a="http://schemas.openxmlformats.org/drawingml/2006/main">
              <a:ext uri="{FF2B5EF4-FFF2-40B4-BE49-F238E27FC236}">
                <a16:creationId xmlns:a16="http://schemas.microsoft.com/office/drawing/2014/main" id="{B4ACA2EF-BFA6-43DE-B636-DD520EA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3" name="k = 26, m = 11&#10;26 mod 11 = 4">
            <a:extLst xmlns:a="http://schemas.openxmlformats.org/drawingml/2006/main">
              <a:ext uri="{FF2B5EF4-FFF2-40B4-BE49-F238E27FC236}">
                <a16:creationId xmlns:a16="http://schemas.microsoft.com/office/drawing/2014/main" id="{808E97E8-435A-4F24-9D1C-28229695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k = 26, m = 11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26 mod 11 = 4</a:t>
            </a:r>
          </a:p>
        </p:txBody>
      </p:sp>
      <p:sp>
        <p:nvSpPr>
          <p:cNvPr id="24" name="Bucket 4">
            <a:extLst xmlns:a="http://schemas.openxmlformats.org/drawingml/2006/main">
              <a:ext uri="{FF2B5EF4-FFF2-40B4-BE49-F238E27FC236}">
                <a16:creationId xmlns:a16="http://schemas.microsoft.com/office/drawing/2014/main" id="{52F38A7D-8534-4152-A5C3-689C640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Bucket 4</a:t>
            </a:r>
          </a:p>
        </p:txBody>
      </p:sp>
      <p:sp>
        <p:nvSpPr>
          <p:cNvPr id="25" name="Fast and simple. Key patterns can still cause">
            <a:extLst xmlns:a="http://schemas.openxmlformats.org/drawingml/2006/main">
              <a:ext uri="{FF2B5EF4-FFF2-40B4-BE49-F238E27FC236}">
                <a16:creationId xmlns:a16="http://schemas.microsoft.com/office/drawing/2014/main" id="{119DF31F-6BF5-4EEE-8B61-3B5DA0DA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Fast and simple. Key patterns can still cause collisions.</a:t>
            </a:r>
          </a:p>
        </p:txBody>
      </p:sp>
      <p:sp>
        <p:nvSpPr>
          <p:cNvPr id="26" name="Code panel">
            <a:extLst xmlns:a="http://schemas.openxmlformats.org/drawingml/2006/main">
              <a:ext uri="{FF2B5EF4-FFF2-40B4-BE49-F238E27FC236}">
                <a16:creationId xmlns:a16="http://schemas.microsoft.com/office/drawing/2014/main" id="{8920EFFD-365A-48D8-B8BB-8F94E24C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27" name="Code label">
            <a:extLst xmlns:a="http://schemas.openxmlformats.org/drawingml/2006/main">
              <a:ext uri="{FF2B5EF4-FFF2-40B4-BE49-F238E27FC236}">
                <a16:creationId xmlns:a16="http://schemas.microsoft.com/office/drawing/2014/main" id="{99FEA374-DAF8-4688-BAA4-AB6646D1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1354185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id-square hashing">
            <a:extLst xmlns:a="http://schemas.openxmlformats.org/drawingml/2006/main">
              <a:ext uri="{FF2B5EF4-FFF2-40B4-BE49-F238E27FC236}">
                <a16:creationId xmlns:a16="http://schemas.microsoft.com/office/drawing/2014/main" id="{85C72480-9A4B-4383-B513-9FECA55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Mid-square hashing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087592CB-86A1-408C-9D3E-002C99A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0D4C5EDF-B55D-430A-A4AA-1ACA7DD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41FCBEFD-20B4-4286-93B6-B7A5ABA7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336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midSquare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unsigned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9C8522E-DBC9-48E2-BBAD-31DA78F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Precondition: 0 &lt;= k &lt;= 9999</a:t>
            </a: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7E006312-22A8-4E20-917F-39F1750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unsigned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long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long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1ULL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31D050D9-470E-4011-885F-C1DA7119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q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1000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D49C5E11-9B1F-4403-9CAF-68851E6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385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7CE521EE-96A0-4DE0-B0A9-289FBCD2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FDD1F887-568B-497D-B807-63B80824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910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1234 squared = 01522756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86ADEAE-045B-4BE9-9D76-E66030F9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middle two digits = 22</a:t>
            </a:r>
          </a:p>
        </p:txBody>
      </p:sp>
      <p:sp>
        <p:nvSpPr>
          <p:cNvPr id="19" name="20">
            <a:extLst xmlns:a="http://schemas.openxmlformats.org/drawingml/2006/main">
              <a:ext uri="{FF2B5EF4-FFF2-40B4-BE49-F238E27FC236}">
                <a16:creationId xmlns:a16="http://schemas.microsoft.com/office/drawing/2014/main" id="{E7E0796E-0BEC-4C95-A350-883144B3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21" name="h(k) = middle digits of k²">
            <a:extLst xmlns:a="http://schemas.openxmlformats.org/drawingml/2006/main">
              <a:ext uri="{FF2B5EF4-FFF2-40B4-BE49-F238E27FC236}">
                <a16:creationId xmlns:a16="http://schemas.microsoft.com/office/drawing/2014/main" id="{6CE63ACD-29F0-4F84-816F-781D1C5F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h(k) = middle digits of k²</a:t>
            </a:r>
          </a:p>
        </p:txBody>
      </p:sp>
      <p:sp>
        <p:nvSpPr>
          <p:cNvPr id="22" name="EXAMPLE">
            <a:extLst xmlns:a="http://schemas.openxmlformats.org/drawingml/2006/main">
              <a:ext uri="{FF2B5EF4-FFF2-40B4-BE49-F238E27FC236}">
                <a16:creationId xmlns:a16="http://schemas.microsoft.com/office/drawing/2014/main" id="{52E4CE61-BB6B-461E-8ACC-38FCF93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3" name="1234² = 01522756&#10;Middle two digits: 22">
            <a:extLst xmlns:a="http://schemas.openxmlformats.org/drawingml/2006/main">
              <a:ext uri="{FF2B5EF4-FFF2-40B4-BE49-F238E27FC236}">
                <a16:creationId xmlns:a16="http://schemas.microsoft.com/office/drawing/2014/main" id="{2A04155B-3D78-4239-8389-9721D12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1234² = 01522756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Middle two digits: 22</a:t>
            </a:r>
          </a:p>
        </p:txBody>
      </p:sp>
      <p:sp>
        <p:nvSpPr>
          <p:cNvPr id="24" name="Bucket 22 of 100">
            <a:extLst xmlns:a="http://schemas.openxmlformats.org/drawingml/2006/main">
              <a:ext uri="{FF2B5EF4-FFF2-40B4-BE49-F238E27FC236}">
                <a16:creationId xmlns:a16="http://schemas.microsoft.com/office/drawing/2014/main" id="{F807D034-FF6A-4069-A713-9F60F307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Bucket 22 of 100</a:t>
            </a:r>
          </a:p>
        </p:txBody>
      </p:sp>
      <p:sp>
        <p:nvSpPr>
          <p:cNvPr id="25" name="Use a fixed digit window and a wide type for ">
            <a:extLst xmlns:a="http://schemas.openxmlformats.org/drawingml/2006/main">
              <a:ext uri="{FF2B5EF4-FFF2-40B4-BE49-F238E27FC236}">
                <a16:creationId xmlns:a16="http://schemas.microsoft.com/office/drawing/2014/main" id="{4F5E53E2-982C-4BAD-81D6-060CF8CC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Use a fixed digit window and a wide type for the square.</a:t>
            </a:r>
          </a:p>
        </p:txBody>
      </p:sp>
      <p:sp>
        <p:nvSpPr>
          <p:cNvPr id="26" name="Code panel">
            <a:extLst xmlns:a="http://schemas.openxmlformats.org/drawingml/2006/main">
              <a:ext uri="{FF2B5EF4-FFF2-40B4-BE49-F238E27FC236}">
                <a16:creationId xmlns:a16="http://schemas.microsoft.com/office/drawing/2014/main" id="{9EA60337-9B83-4CB0-A7B9-B2ABD95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27" name="Code label">
            <a:extLst xmlns:a="http://schemas.openxmlformats.org/drawingml/2006/main">
              <a:ext uri="{FF2B5EF4-FFF2-40B4-BE49-F238E27FC236}">
                <a16:creationId xmlns:a16="http://schemas.microsoft.com/office/drawing/2014/main" id="{1431EDB3-720D-4FCC-AF8E-4286739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205200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Multiplicative hashing">
            <a:extLst xmlns:a="http://schemas.openxmlformats.org/drawingml/2006/main">
              <a:ext uri="{FF2B5EF4-FFF2-40B4-BE49-F238E27FC236}">
                <a16:creationId xmlns:a16="http://schemas.microsoft.com/office/drawing/2014/main" id="{0C410DE5-B36A-438D-8CF0-C6C8CD5D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Multiplicative hashing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D4EEEDD0-71B9-4531-B948-1892DB0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EF191BB5-18D2-44E4-B49A-B3A1725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E04E850-44C1-4644-9B9F-D726D9AD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19338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5817E25-158E-4A0E-B026-6F1B245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95563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F0DD2B41-07F9-4647-8D2D-276A9C2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1788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multiplyHash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unsigned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C8B017B-E791-4FBC-9B2E-B40D3CF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8013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Demo: k &lt;= 1000000, m &gt; 0</a:t>
            </a: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91D64502-1310-4F84-8BE7-125F418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4238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long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0.6180339887498948482L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764317FF-35F1-46CA-A357-5BB6AD1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00463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long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769AAEFE-7C55-4485-9B48-824BB4B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76688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long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floor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x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7F7A53AD-B686-45D6-9FA2-AB0F1BF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52913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floor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8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7C36133-6A44-47E0-B611-020CC00B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29138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064E164E-1C13-46A2-BA1C-EDD5939E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05363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2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63BD4E3-0FE5-4454-917E-86307010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81588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multiplyHash(26, 10) == 0</a:t>
            </a:r>
          </a:p>
        </p:txBody>
      </p:sp>
      <p:sp>
        <p:nvSpPr>
          <p:cNvPr id="22" name="26">
            <a:extLst xmlns:a="http://schemas.openxmlformats.org/drawingml/2006/main">
              <a:ext uri="{FF2B5EF4-FFF2-40B4-BE49-F238E27FC236}">
                <a16:creationId xmlns:a16="http://schemas.microsoft.com/office/drawing/2014/main" id="{A9F3E507-74BE-4658-A50A-E331B766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24" name="h(k) = floor(m × frac(kA))">
            <a:extLst xmlns:a="http://schemas.openxmlformats.org/drawingml/2006/main">
              <a:ext uri="{FF2B5EF4-FFF2-40B4-BE49-F238E27FC236}">
                <a16:creationId xmlns:a16="http://schemas.microsoft.com/office/drawing/2014/main" id="{1BAB4472-6648-4FA9-86EE-640EF33B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h(k) = floor(m × frac(kA))</a:t>
            </a:r>
          </a:p>
        </p:txBody>
      </p:sp>
      <p:sp>
        <p:nvSpPr>
          <p:cNvPr id="25" name="EXAMPLE">
            <a:extLst xmlns:a="http://schemas.openxmlformats.org/drawingml/2006/main">
              <a:ext uri="{FF2B5EF4-FFF2-40B4-BE49-F238E27FC236}">
                <a16:creationId xmlns:a16="http://schemas.microsoft.com/office/drawing/2014/main" id="{247B141B-369E-4EC2-8685-4A0E6177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6" name="k = 26, m = 10&#10;A ≈ 0.618034&#10;frac(26A) ≈ 0.068">
            <a:extLst xmlns:a="http://schemas.openxmlformats.org/drawingml/2006/main">
              <a:ext uri="{FF2B5EF4-FFF2-40B4-BE49-F238E27FC236}">
                <a16:creationId xmlns:a16="http://schemas.microsoft.com/office/drawing/2014/main" id="{66AFB1A5-8515-4D32-8A59-20BA0C93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k = 26, m = 10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A ≈ 0.618034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frac(26A) ≈ 0.068884</a:t>
            </a:r>
          </a:p>
        </p:txBody>
      </p:sp>
      <p:sp>
        <p:nvSpPr>
          <p:cNvPr id="27" name="Bucket 0">
            <a:extLst xmlns:a="http://schemas.openxmlformats.org/drawingml/2006/main">
              <a:ext uri="{FF2B5EF4-FFF2-40B4-BE49-F238E27FC236}">
                <a16:creationId xmlns:a16="http://schemas.microsoft.com/office/drawing/2014/main" id="{AA8D2D0A-41CD-439C-A128-05DF7C7A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Bucket 0</a:t>
            </a:r>
          </a:p>
        </p:txBody>
      </p:sp>
      <p:sp>
        <p:nvSpPr>
          <p:cNvPr id="28" name="Uses the product’s fractional part. Large key">
            <a:extLst xmlns:a="http://schemas.openxmlformats.org/drawingml/2006/main">
              <a:ext uri="{FF2B5EF4-FFF2-40B4-BE49-F238E27FC236}">
                <a16:creationId xmlns:a16="http://schemas.microsoft.com/office/drawing/2014/main" id="{23C918D3-43AD-4F48-B72A-1F5FC09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Uses the product’s fractional part. Large keys need care with precision.</a:t>
            </a:r>
          </a:p>
        </p:txBody>
      </p:sp>
      <p:sp>
        <p:nvSpPr>
          <p:cNvPr id="29" name="Code panel">
            <a:extLst xmlns:a="http://schemas.openxmlformats.org/drawingml/2006/main">
              <a:ext uri="{FF2B5EF4-FFF2-40B4-BE49-F238E27FC236}">
                <a16:creationId xmlns:a16="http://schemas.microsoft.com/office/drawing/2014/main" id="{4E7C3595-D028-4007-B2BB-55DD208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30" name="Code label">
            <a:extLst xmlns:a="http://schemas.openxmlformats.org/drawingml/2006/main">
              <a:ext uri="{FF2B5EF4-FFF2-40B4-BE49-F238E27FC236}">
                <a16:creationId xmlns:a16="http://schemas.microsoft.com/office/drawing/2014/main" id="{86F7B935-1DA1-42E8-AD46-640C4B66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19053706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parate chaining">
            <a:extLst xmlns:a="http://schemas.openxmlformats.org/drawingml/2006/main">
              <a:ext uri="{FF2B5EF4-FFF2-40B4-BE49-F238E27FC236}">
                <a16:creationId xmlns:a16="http://schemas.microsoft.com/office/drawing/2014/main" id="{93AE3FD8-FAC0-4CA7-97DF-D233E79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Separate chaining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2D0B7E2D-7712-4300-9436-5ACD3A56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247CCDC6-2BF1-4958-B4E1-7488064E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AC5DC5B4-F35F-4D8D-A348-016DBBC9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812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vector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6A0BB23-2D3F-4B4C-868D-818F3447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574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g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535A551-0981-49E7-9A08-F544829D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336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vector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781A619E-885F-4A24-9195-C1D9DF0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6BAFB899-4C14-448B-A6A2-417A7C8F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BA1122E-EEAD-49CE-9A1F-0754F346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3A83CA37-FF26-447B-8A71-6E5B592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385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auto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5527D591-E1C3-45AB-927D-A4CAB202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find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begin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end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8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0177717D-E878-4C87-8A0D-427E9E38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910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b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push_back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9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56ED608-0AAA-4D38-A684-C11896E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788F113-854E-4F63-9850-F57EC22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434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2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8AECEDA5-E0FC-4D4E-BF0B-8611EA29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83B875"/>
                </a:solidFill>
                <a:latin typeface="Consolas"/>
                <a:ea typeface="Consolas"/>
                <a:cs typeface="Consolas"/>
              </a:rPr>
              <a:t>// insert(22); insert(33); insert(44);</a:t>
            </a:r>
          </a:p>
        </p:txBody>
      </p:sp>
      <p:sp>
        <p:nvSpPr>
          <p:cNvPr id="23" name="33">
            <a:extLst xmlns:a="http://schemas.openxmlformats.org/drawingml/2006/main">
              <a:ext uri="{FF2B5EF4-FFF2-40B4-BE49-F238E27FC236}">
                <a16:creationId xmlns:a16="http://schemas.microsoft.com/office/drawing/2014/main" id="{FC002C47-B581-4953-865C-32994F20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25" name="h(k) = k mod 11">
            <a:extLst xmlns:a="http://schemas.openxmlformats.org/drawingml/2006/main">
              <a:ext uri="{FF2B5EF4-FFF2-40B4-BE49-F238E27FC236}">
                <a16:creationId xmlns:a16="http://schemas.microsoft.com/office/drawing/2014/main" id="{3FF373C2-6672-4156-9EE7-DB962961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h(k) = k mod 11</a:t>
            </a:r>
          </a:p>
        </p:txBody>
      </p:sp>
      <p:sp>
        <p:nvSpPr>
          <p:cNvPr id="26" name="EXAMPLE">
            <a:extLst xmlns:a="http://schemas.openxmlformats.org/drawingml/2006/main">
              <a:ext uri="{FF2B5EF4-FFF2-40B4-BE49-F238E27FC236}">
                <a16:creationId xmlns:a16="http://schemas.microsoft.com/office/drawing/2014/main" id="{EE1690F8-3ECD-436F-8CF5-ACE8133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7" name="Insert 22, 33, 44&#10;All have home bucket 0.&#10;Buc">
            <a:extLst xmlns:a="http://schemas.openxmlformats.org/drawingml/2006/main">
              <a:ext uri="{FF2B5EF4-FFF2-40B4-BE49-F238E27FC236}">
                <a16:creationId xmlns:a16="http://schemas.microsoft.com/office/drawing/2014/main" id="{AB1860A4-9AA8-44EC-AA2B-1E8809B0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Insert 22, 33, 44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All have home bucket 0.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Bucket 0: [22, 33, 44]</a:t>
            </a:r>
          </a:p>
        </p:txBody>
      </p:sp>
      <p:sp>
        <p:nvSpPr>
          <p:cNvPr id="28" name="Lookup scans the bucket">
            <a:extLst xmlns:a="http://schemas.openxmlformats.org/drawingml/2006/main">
              <a:ext uri="{FF2B5EF4-FFF2-40B4-BE49-F238E27FC236}">
                <a16:creationId xmlns:a16="http://schemas.microsoft.com/office/drawing/2014/main" id="{8606FDB3-0213-4A33-B573-A4B662D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Lookup scans the bucket</a:t>
            </a:r>
          </a:p>
        </p:txBody>
      </p:sp>
      <p:sp>
        <p:nvSpPr>
          <p:cNvPr id="29" name="Easy deletion. Expected search O(1 + α), wors">
            <a:extLst xmlns:a="http://schemas.openxmlformats.org/drawingml/2006/main">
              <a:ext uri="{FF2B5EF4-FFF2-40B4-BE49-F238E27FC236}">
                <a16:creationId xmlns:a16="http://schemas.microsoft.com/office/drawing/2014/main" id="{492A17C2-5B44-4881-8A24-C3ECDD8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Easy deletion. Expected search O(1 + α), worst case O(n).</a:t>
            </a:r>
          </a:p>
        </p:txBody>
      </p:sp>
      <p:sp>
        <p:nvSpPr>
          <p:cNvPr id="30" name="Code panel">
            <a:extLst xmlns:a="http://schemas.openxmlformats.org/drawingml/2006/main">
              <a:ext uri="{FF2B5EF4-FFF2-40B4-BE49-F238E27FC236}">
                <a16:creationId xmlns:a16="http://schemas.microsoft.com/office/drawing/2014/main" id="{139F484D-1198-4CFD-976E-B4855CA6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31" name="Code label">
            <a:extLst xmlns:a="http://schemas.openxmlformats.org/drawingml/2006/main">
              <a:ext uri="{FF2B5EF4-FFF2-40B4-BE49-F238E27FC236}">
                <a16:creationId xmlns:a16="http://schemas.microsoft.com/office/drawing/2014/main" id="{DD4D312A-685B-4E52-96B3-71DC5010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8634693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inear probing">
            <a:extLst xmlns:a="http://schemas.openxmlformats.org/drawingml/2006/main">
              <a:ext uri="{FF2B5EF4-FFF2-40B4-BE49-F238E27FC236}">
                <a16:creationId xmlns:a16="http://schemas.microsoft.com/office/drawing/2014/main" id="{291781DB-2C15-443A-84FE-139BF9F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Linear probing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8A4CC4F0-14F9-48C7-A864-808B880B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E0625A80-BEE9-49FA-8A45-2B8DD59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35F7A49A-41FB-4FAC-8FD3-83454402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812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optional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88D2CF55-26F2-4687-A046-25E7D48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574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optional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FE13429-B038-416F-BD62-E00789BE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336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1F8CF4FA-ADDC-46E9-A274-F9FB80DC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E276C70-4D41-4578-8030-F701C3D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D3774890-9254-43A7-AA2D-FDEDE346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BF99B421-5380-428D-9038-F400AC03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385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5CC83316-0367-4ADD-8223-473BA1E3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8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99D795BB-8D4B-41CE-936D-CC8FB83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910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54DE6312-09B4-45F3-9129-EF439AE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C123755-644A-4478-B2F6-D0C4790A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434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3EA5F7F1-B2A1-4DB6-9B24-CCE86C8E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36">
            <a:extLst xmlns:a="http://schemas.openxmlformats.org/drawingml/2006/main">
              <a:ext uri="{FF2B5EF4-FFF2-40B4-BE49-F238E27FC236}">
                <a16:creationId xmlns:a16="http://schemas.microsoft.com/office/drawing/2014/main" id="{BA8A6ECF-CAC2-4352-85A8-3489A02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25" name="slot = (h(k) + i) mod m">
            <a:extLst xmlns:a="http://schemas.openxmlformats.org/drawingml/2006/main">
              <a:ext uri="{FF2B5EF4-FFF2-40B4-BE49-F238E27FC236}">
                <a16:creationId xmlns:a16="http://schemas.microsoft.com/office/drawing/2014/main" id="{E5FA5033-A787-4580-8696-571603D9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slot = (h(k) + i) mod m</a:t>
            </a:r>
          </a:p>
        </p:txBody>
      </p:sp>
      <p:sp>
        <p:nvSpPr>
          <p:cNvPr id="26" name="EXAMPLE">
            <a:extLst xmlns:a="http://schemas.openxmlformats.org/drawingml/2006/main">
              <a:ext uri="{FF2B5EF4-FFF2-40B4-BE49-F238E27FC236}">
                <a16:creationId xmlns:a16="http://schemas.microsoft.com/office/drawing/2014/main" id="{610ACC36-B655-4553-8099-2C026BB3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7" name="m = 11, h(k) = k mod 11&#10;Insert 22, 33, 44&#10;Fin">
            <a:extLst xmlns:a="http://schemas.openxmlformats.org/drawingml/2006/main">
              <a:ext uri="{FF2B5EF4-FFF2-40B4-BE49-F238E27FC236}">
                <a16:creationId xmlns:a16="http://schemas.microsoft.com/office/drawing/2014/main" id="{D31FC22E-DAC0-44E6-8B1F-6E3F3B1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m = 11, h(k) = k mod 11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Insert 22, 33, 44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Final slots: 0, 1, 2</a:t>
            </a:r>
          </a:p>
        </p:txBody>
      </p:sp>
      <p:sp>
        <p:nvSpPr>
          <p:cNvPr id="28" name="Consecutive probes">
            <a:extLst xmlns:a="http://schemas.openxmlformats.org/drawingml/2006/main">
              <a:ext uri="{FF2B5EF4-FFF2-40B4-BE49-F238E27FC236}">
                <a16:creationId xmlns:a16="http://schemas.microsoft.com/office/drawing/2014/main" id="{2570F841-58A9-48E6-B89E-B594F02F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Consecutive probes</a:t>
            </a:r>
          </a:p>
        </p:txBody>
      </p:sp>
      <p:sp>
        <p:nvSpPr>
          <p:cNvPr id="29" name="Simple and cache-friendly, but consecutive cl">
            <a:extLst xmlns:a="http://schemas.openxmlformats.org/drawingml/2006/main">
              <a:ext uri="{FF2B5EF4-FFF2-40B4-BE49-F238E27FC236}">
                <a16:creationId xmlns:a16="http://schemas.microsoft.com/office/drawing/2014/main" id="{8ECEC793-8F86-46D9-9158-304CCB33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Simple and cache-friendly, but consecutive clusters slow down lookup.</a:t>
            </a:r>
          </a:p>
        </p:txBody>
      </p:sp>
      <p:sp>
        <p:nvSpPr>
          <p:cNvPr id="30" name="Code panel">
            <a:extLst xmlns:a="http://schemas.openxmlformats.org/drawingml/2006/main">
              <a:ext uri="{FF2B5EF4-FFF2-40B4-BE49-F238E27FC236}">
                <a16:creationId xmlns:a16="http://schemas.microsoft.com/office/drawing/2014/main" id="{F6B95ADF-F217-4693-AAEF-67C0493D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31" name="Code label">
            <a:extLst xmlns:a="http://schemas.openxmlformats.org/drawingml/2006/main">
              <a:ext uri="{FF2B5EF4-FFF2-40B4-BE49-F238E27FC236}">
                <a16:creationId xmlns:a16="http://schemas.microsoft.com/office/drawing/2014/main" id="{EAE1A5B2-31E5-4262-B21F-9591EFC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2988229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Quadratic probing">
            <a:extLst xmlns:a="http://schemas.openxmlformats.org/drawingml/2006/main">
              <a:ext uri="{FF2B5EF4-FFF2-40B4-BE49-F238E27FC236}">
                <a16:creationId xmlns:a16="http://schemas.microsoft.com/office/drawing/2014/main" id="{DBBE4BE3-5E52-4F28-A238-8218A000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Quadratic probing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BA86D5F1-C0BE-46D7-A1EB-92FBF28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CB50FD6F-B8AE-4CD8-9C1E-0E3275A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1BF3657A-C862-4557-B5ED-BC6B7C1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812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optional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5A1AAA27-ADDF-4E62-9635-BF5AF45E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574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optional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BC78C9AB-4128-4842-8CAB-C2E352EA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336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6A50937B-2300-4090-BFA9-840B6327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719C2C7-6FE5-4530-BC78-A43272F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D6E04D3-909B-4F1E-8F53-A7C5581C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9F6A617E-C60C-49B5-AA5C-7E3D5E8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385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F54E8A32-473B-48D0-9F8B-A864EB1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8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D1B03D8F-8B40-48C1-AEAE-A16B1B8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910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638F48B-D339-4368-A91B-2CC6762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4E195E79-2A4A-4377-96B3-BEA5A14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434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3FCFCECB-084F-4F4A-84BD-8AC3270C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39">
            <a:extLst xmlns:a="http://schemas.openxmlformats.org/drawingml/2006/main">
              <a:ext uri="{FF2B5EF4-FFF2-40B4-BE49-F238E27FC236}">
                <a16:creationId xmlns:a16="http://schemas.microsoft.com/office/drawing/2014/main" id="{226A4F83-E90D-4F15-95D4-8C2073B3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  <p:sp>
        <p:nvSpPr>
          <p:cNvPr id="25" name="slot = (h(k) + i²) mod m">
            <a:extLst xmlns:a="http://schemas.openxmlformats.org/drawingml/2006/main">
              <a:ext uri="{FF2B5EF4-FFF2-40B4-BE49-F238E27FC236}">
                <a16:creationId xmlns:a16="http://schemas.microsoft.com/office/drawing/2014/main" id="{6B779A23-105C-42C3-B6FF-3ABCFA7F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slot = (h(k) + i²) mod m</a:t>
            </a:r>
          </a:p>
        </p:txBody>
      </p:sp>
      <p:sp>
        <p:nvSpPr>
          <p:cNvPr id="26" name="EXAMPLE">
            <a:extLst xmlns:a="http://schemas.openxmlformats.org/drawingml/2006/main">
              <a:ext uri="{FF2B5EF4-FFF2-40B4-BE49-F238E27FC236}">
                <a16:creationId xmlns:a16="http://schemas.microsoft.com/office/drawing/2014/main" id="{7B52BAD4-A7E6-4772-AD6D-45CB382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7" name="m = 11, h(k) = k mod 11&#10;Insert 22, 33, 44&#10;Fin">
            <a:extLst xmlns:a="http://schemas.openxmlformats.org/drawingml/2006/main">
              <a:ext uri="{FF2B5EF4-FFF2-40B4-BE49-F238E27FC236}">
                <a16:creationId xmlns:a16="http://schemas.microsoft.com/office/drawing/2014/main" id="{5A1F7E47-E334-4779-B72E-C0AAABF7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m = 11, h(k) = k mod 11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Insert 22, 33, 44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Final slots: 0, 1, 4</a:t>
            </a:r>
          </a:p>
        </p:txBody>
      </p:sp>
      <p:sp>
        <p:nvSpPr>
          <p:cNvPr id="28" name="Squared offsets">
            <a:extLst xmlns:a="http://schemas.openxmlformats.org/drawingml/2006/main">
              <a:ext uri="{FF2B5EF4-FFF2-40B4-BE49-F238E27FC236}">
                <a16:creationId xmlns:a16="http://schemas.microsoft.com/office/drawing/2014/main" id="{3CD3DEBC-E412-40CA-B17B-67858E69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Squared offsets</a:t>
            </a:r>
          </a:p>
        </p:txBody>
      </p:sp>
      <p:sp>
        <p:nvSpPr>
          <p:cNvPr id="29" name="For this i² variant: prime m and α &lt; 0.5 guar">
            <a:extLst xmlns:a="http://schemas.openxmlformats.org/drawingml/2006/main">
              <a:ext uri="{FF2B5EF4-FFF2-40B4-BE49-F238E27FC236}">
                <a16:creationId xmlns:a16="http://schemas.microsoft.com/office/drawing/2014/main" id="{0647A62B-D148-4228-B893-0579F422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For this i² variant: prime m and α &lt; 0.5 guarantee a free slot.</a:t>
            </a:r>
          </a:p>
        </p:txBody>
      </p:sp>
      <p:sp>
        <p:nvSpPr>
          <p:cNvPr id="30" name="Code panel">
            <a:extLst xmlns:a="http://schemas.openxmlformats.org/drawingml/2006/main">
              <a:ext uri="{FF2B5EF4-FFF2-40B4-BE49-F238E27FC236}">
                <a16:creationId xmlns:a16="http://schemas.microsoft.com/office/drawing/2014/main" id="{D652207A-489B-4672-8166-A1EA643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31" name="Code label">
            <a:extLst xmlns:a="http://schemas.openxmlformats.org/drawingml/2006/main">
              <a:ext uri="{FF2B5EF4-FFF2-40B4-BE49-F238E27FC236}">
                <a16:creationId xmlns:a16="http://schemas.microsoft.com/office/drawing/2014/main" id="{581B42BE-7E97-435A-A7C5-DDEFEFF2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18683637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ouble hashing">
            <a:extLst xmlns:a="http://schemas.openxmlformats.org/drawingml/2006/main">
              <a:ext uri="{FF2B5EF4-FFF2-40B4-BE49-F238E27FC236}">
                <a16:creationId xmlns:a16="http://schemas.microsoft.com/office/drawing/2014/main" id="{70A674C8-07EB-4689-92C9-AEA2D18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Double hashing</a:t>
            </a:r>
          </a:p>
        </p:txBody>
      </p:sp>
      <p:sp>
        <p:nvSpPr>
          <p:cNvPr id="2" name="C++ demo">
            <a:extLst xmlns:a="http://schemas.openxmlformats.org/drawingml/2006/main">
              <a:ext uri="{FF2B5EF4-FFF2-40B4-BE49-F238E27FC236}">
                <a16:creationId xmlns:a16="http://schemas.microsoft.com/office/drawing/2014/main" id="{CA09FD34-54D1-44FC-AB3A-85A2CAFC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Principle, worked example and C++ demo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81068D06-30CD-47BC-9F32-4083B018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08AFF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A863F58B-286B-43CE-82C9-903F76AA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812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d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optional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6A2D8B93-64BE-47A1-940F-AE5A3FE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574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std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650">
                <a:solidFill>
                  <a:srgbClr val="63D7C3"/>
                </a:solidFill>
                <a:latin typeface="Consolas"/>
                <a:ea typeface="Consolas"/>
                <a:cs typeface="Consolas"/>
              </a:rPr>
              <a:t>optional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2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9D3D3822-F28D-4833-BC0A-6CF02F90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336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</a:p>
        </p:txBody>
      </p:sp>
      <p:sp>
        <p:nvSpPr>
          <p:cNvPr id="13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B4E0B8D3-1CBF-489E-98AC-0320180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unsigned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4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A079F91-2009-4608-A2D0-6F42055D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861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5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866E3AD7-0ABF-449C-BEC9-805E9D6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623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for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</a:p>
        </p:txBody>
      </p:sp>
      <p:sp>
        <p:nvSpPr>
          <p:cNvPr id="16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44B8790B-7AD6-4AD6-8624-1946F7D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385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h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e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6C879"/>
                </a:solidFill>
                <a:latin typeface="Consolas"/>
                <a:ea typeface="Consolas"/>
                <a:cs typeface="Consolas"/>
              </a:rPr>
              <a:t>11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7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CB0ABA17-F7A6-4E84-AC35-2BF0405C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8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21B1DF3A-9F94-4711-8CF7-78CE08C3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9102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s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j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9DDCFF"/>
                </a:solidFill>
                <a:latin typeface="Consolas"/>
                <a:ea typeface="Consolas"/>
                <a:cs typeface="Consolas"/>
              </a:rPr>
              <a:t>k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D8BA14AA-7F86-4A47-ABE1-BE72A38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DEC4EDBA-7BD6-47FD-BA97-1347FA4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43475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6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C++ highlighted code">
            <a:extLst xmlns:a="http://schemas.openxmlformats.org/drawingml/2006/main">
              <a:ext uri="{FF2B5EF4-FFF2-40B4-BE49-F238E27FC236}">
                <a16:creationId xmlns:a16="http://schemas.microsoft.com/office/drawing/2014/main" id="{E9215593-9D17-4F34-9723-BD906436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737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2F5FF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F2F5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42">
            <a:extLst xmlns:a="http://schemas.openxmlformats.org/drawingml/2006/main">
              <a:ext uri="{FF2B5EF4-FFF2-40B4-BE49-F238E27FC236}">
                <a16:creationId xmlns:a16="http://schemas.microsoft.com/office/drawing/2014/main" id="{C322CB08-CCAE-4C50-AC63-C91BC8E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19</a:t>
            </a:r>
          </a:p>
        </p:txBody>
      </p:sp>
      <p:sp>
        <p:nvSpPr>
          <p:cNvPr id="25" name="slot = (h₁(k) + i × h₂(k)) mod m">
            <a:extLst xmlns:a="http://schemas.openxmlformats.org/drawingml/2006/main">
              <a:ext uri="{FF2B5EF4-FFF2-40B4-BE49-F238E27FC236}">
                <a16:creationId xmlns:a16="http://schemas.microsoft.com/office/drawing/2014/main" id="{28B404E3-F4EA-4459-8281-27AF35BF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slot = (h₁(k) + i × h₂(k)) mod m</a:t>
            </a:r>
          </a:p>
        </p:txBody>
      </p:sp>
      <p:sp>
        <p:nvSpPr>
          <p:cNvPr id="26" name="EXAMPLE">
            <a:extLst xmlns:a="http://schemas.openxmlformats.org/drawingml/2006/main">
              <a:ext uri="{FF2B5EF4-FFF2-40B4-BE49-F238E27FC236}">
                <a16:creationId xmlns:a16="http://schemas.microsoft.com/office/drawing/2014/main" id="{D4D731E8-B264-4B6E-9A97-8785AD1C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EXAMPLE</a:t>
            </a:r>
          </a:p>
        </p:txBody>
      </p:sp>
      <p:sp>
        <p:nvSpPr>
          <p:cNvPr id="27" name="m = 11&#10;h₁(k) = k mod 11&#10;h₂(k) = 1 + (k mod 10">
            <a:extLst xmlns:a="http://schemas.openxmlformats.org/drawingml/2006/main">
              <a:ext uri="{FF2B5EF4-FFF2-40B4-BE49-F238E27FC236}">
                <a16:creationId xmlns:a16="http://schemas.microsoft.com/office/drawing/2014/main" id="{B40973D2-7418-49F4-A98B-C5023F0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m = 11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h₁(k) = k mod 11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h₂(k) = 1 + (k mod 10)</a:t>
            </a:r>
          </a:p>
        </p:txBody>
      </p:sp>
      <p:sp>
        <p:nvSpPr>
          <p:cNvPr id="28" name="22, 33, 44 use slots 0, 4, 5">
            <a:extLst xmlns:a="http://schemas.openxmlformats.org/drawingml/2006/main">
              <a:ext uri="{FF2B5EF4-FFF2-40B4-BE49-F238E27FC236}">
                <a16:creationId xmlns:a16="http://schemas.microsoft.com/office/drawing/2014/main" id="{FAE7F8DF-CBB5-407B-A2AF-66D01275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323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22, 33, 44 use slots 0, 4, 5</a:t>
            </a:r>
          </a:p>
        </p:txBody>
      </p:sp>
      <p:sp>
        <p:nvSpPr>
          <p:cNvPr id="29" name="A nonzero step coprime to m visits every slot">
            <a:extLst xmlns:a="http://schemas.openxmlformats.org/drawingml/2006/main">
              <a:ext uri="{FF2B5EF4-FFF2-40B4-BE49-F238E27FC236}">
                <a16:creationId xmlns:a16="http://schemas.microsoft.com/office/drawing/2014/main" id="{5D29F29D-E7A9-405A-8A56-19102EF6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A nonzero step coprime to m visits every slot.</a:t>
            </a:r>
          </a:p>
        </p:txBody>
      </p:sp>
      <p:sp>
        <p:nvSpPr>
          <p:cNvPr id="30" name="Code panel">
            <a:extLst xmlns:a="http://schemas.openxmlformats.org/drawingml/2006/main">
              <a:ext uri="{FF2B5EF4-FFF2-40B4-BE49-F238E27FC236}">
                <a16:creationId xmlns:a16="http://schemas.microsoft.com/office/drawing/2014/main" id="{504F16C9-1579-45B1-B6A0-ECEA4247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7715250" cy="4105275"/>
          </a:xfrm>
          <a:prstGeom xmlns:a="http://schemas.openxmlformats.org/drawingml/2006/main" prst="roundRect">
            <a:avLst>
              <a:gd name="adj" fmla="val 23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3648"/>
            </a:solidFill>
          </a:ln>
        </p:spPr>
      </p:sp>
      <p:sp>
        <p:nvSpPr>
          <p:cNvPr id="31" name="Code label">
            <a:extLst xmlns:a="http://schemas.openxmlformats.org/drawingml/2006/main">
              <a:ext uri="{FF2B5EF4-FFF2-40B4-BE49-F238E27FC236}">
                <a16:creationId xmlns:a16="http://schemas.microsoft.com/office/drawing/2014/main" id="{24A7F32D-C554-4660-B95E-8E5F3B2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6212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B0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B0C6"/>
                </a:solidFill>
                <a:latin typeface="Aptos"/>
                <a:ea typeface="Aptos"/>
                <a:cs typeface="Aptos"/>
              </a:rPr>
              <a:t>C++ demo</a:t>
            </a:r>
          </a:p>
        </p:txBody>
      </p:sp>
    </p:spTree>
    <p:extLst>
      <p:ext uri="{BB962C8B-B14F-4D97-AF65-F5344CB8AC3E}">
        <p14:creationId xmlns:p14="http://schemas.microsoft.com/office/powerpoint/2010/main" val="95449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ash table performance">
            <a:extLst xmlns:a="http://schemas.openxmlformats.org/drawingml/2006/main">
              <a:ext uri="{FF2B5EF4-FFF2-40B4-BE49-F238E27FC236}">
                <a16:creationId xmlns:a16="http://schemas.microsoft.com/office/drawing/2014/main" id="{CF7662B6-2D3D-4438-A9FD-63631B0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Hash table performance</a:t>
            </a:r>
          </a:p>
        </p:txBody>
      </p:sp>
      <p:sp>
        <p:nvSpPr>
          <p:cNvPr id="2" name="Capacity and deletion rules">
            <a:extLst xmlns:a="http://schemas.openxmlformats.org/drawingml/2006/main">
              <a:ext uri="{FF2B5EF4-FFF2-40B4-BE49-F238E27FC236}">
                <a16:creationId xmlns:a16="http://schemas.microsoft.com/office/drawing/2014/main" id="{DA081FEF-A832-4158-A094-83ABA7D6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Capacity and deletion rules</a:t>
            </a:r>
          </a:p>
        </p:txBody>
      </p:sp>
      <p:sp>
        <p:nvSpPr>
          <p:cNvPr id="3" name="α = n / m">
            <a:extLst xmlns:a="http://schemas.openxmlformats.org/drawingml/2006/main">
              <a:ext uri="{FF2B5EF4-FFF2-40B4-BE49-F238E27FC236}">
                <a16:creationId xmlns:a16="http://schemas.microsoft.com/office/drawing/2014/main" id="{E5B86CF0-BCD0-439B-A5E4-EB236C1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7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α = n / m</a:t>
            </a:r>
          </a:p>
        </p:txBody>
      </p:sp>
      <p:sp>
        <p:nvSpPr>
          <p:cNvPr id="4" name="7 entries / 10 slots = 0.7">
            <a:extLst xmlns:a="http://schemas.openxmlformats.org/drawingml/2006/main">
              <a:ext uri="{FF2B5EF4-FFF2-40B4-BE49-F238E27FC236}">
                <a16:creationId xmlns:a16="http://schemas.microsoft.com/office/drawing/2014/main" id="{C4A16787-A4D3-47C1-BDA9-747AB881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7 entries / 10 slots = 0.7</a:t>
            </a:r>
          </a:p>
        </p:txBody>
      </p:sp>
      <p:sp>
        <p:nvSpPr>
          <p:cNvPr id="5" name="Expected O(1)">
            <a:extLst xmlns:a="http://schemas.openxmlformats.org/drawingml/2006/main">
              <a:ext uri="{FF2B5EF4-FFF2-40B4-BE49-F238E27FC236}">
                <a16:creationId xmlns:a16="http://schemas.microsoft.com/office/drawing/2014/main" id="{5BA679BA-FFF1-4CBF-8A20-0873B47F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Expected O(1)</a:t>
            </a:r>
          </a:p>
        </p:txBody>
      </p:sp>
      <p:sp>
        <p:nvSpPr>
          <p:cNvPr id="6" name="Good distribution and controlled load&#10;Worst c">
            <a:extLst xmlns:a="http://schemas.openxmlformats.org/drawingml/2006/main">
              <a:ext uri="{FF2B5EF4-FFF2-40B4-BE49-F238E27FC236}">
                <a16:creationId xmlns:a16="http://schemas.microsoft.com/office/drawing/2014/main" id="{0DD28ABB-DFC6-4427-A67B-8666339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04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Good distribution and controlled load</a:t>
            </a:r>
          </a:p>
          <a:p xmlns:a="http://schemas.openxmlformats.org/drawingml/2006/main">
            <a:pPr>
              <a:buNone/>
              <a:defRPr sz="1875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Worst case: O(n)</a:t>
            </a:r>
          </a:p>
        </p:txBody>
      </p:sp>
      <p:sp>
        <p:nvSpPr>
          <p:cNvPr id="7" name="RESIZE">
            <a:extLst xmlns:a="http://schemas.openxmlformats.org/drawingml/2006/main">
              <a:ext uri="{FF2B5EF4-FFF2-40B4-BE49-F238E27FC236}">
                <a16:creationId xmlns:a16="http://schemas.microsoft.com/office/drawing/2014/main" id="{BEC449C6-7112-4728-8FEF-C244307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RESIZE</a:t>
            </a:r>
          </a:p>
        </p:txBody>
      </p:sp>
      <p:sp>
        <p:nvSpPr>
          <p:cNvPr id="8" name="Grow the table as load rises.&#10;Rehash every li">
            <a:extLst xmlns:a="http://schemas.openxmlformats.org/drawingml/2006/main">
              <a:ext uri="{FF2B5EF4-FFF2-40B4-BE49-F238E27FC236}">
                <a16:creationId xmlns:a16="http://schemas.microsoft.com/office/drawing/2014/main" id="{0EC13CA7-273E-402B-851D-AD77E06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Grow the table as load rises.</a:t>
            </a:r>
          </a:p>
          <a:p xmlns:a="http://schemas.openxmlformats.org/drawingml/2006/main">
            <a:pPr>
              <a:buNone/>
              <a:defRPr sz="1950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Rehash every live key into the new capacity.</a:t>
            </a:r>
          </a:p>
        </p:txBody>
      </p:sp>
      <p:sp>
        <p:nvSpPr>
          <p:cNvPr id="9" name="DELETE">
            <a:extLst xmlns:a="http://schemas.openxmlformats.org/drawingml/2006/main">
              <a:ext uri="{FF2B5EF4-FFF2-40B4-BE49-F238E27FC236}">
                <a16:creationId xmlns:a16="http://schemas.microsoft.com/office/drawing/2014/main" id="{70731137-3B9B-48E4-8641-CE100702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52B0"/>
                </a:solidFill>
                <a:latin typeface="Aptos"/>
                <a:ea typeface="Aptos"/>
                <a:cs typeface="Aptos"/>
              </a:defRPr>
            </a:pPr>
            <a:r>
              <a:t>DELETE</a:t>
            </a:r>
          </a:p>
        </p:txBody>
      </p:sp>
      <p:sp>
        <p:nvSpPr>
          <p:cNvPr id="10" name="In open addressing, a tombstone keeps&#10;the pro">
            <a:extLst xmlns:a="http://schemas.openxmlformats.org/drawingml/2006/main">
              <a:ext uri="{FF2B5EF4-FFF2-40B4-BE49-F238E27FC236}">
                <a16:creationId xmlns:a16="http://schemas.microsoft.com/office/drawing/2014/main" id="{6F1253B9-D4A2-47F4-98C5-9F81E57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5775"/>
            <a:ext cx="5095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In open addressing, a tombstone keeps</a:t>
            </a:r>
          </a:p>
          <a:p xmlns:a="http://schemas.openxmlformats.org/drawingml/2006/main">
            <a:pPr>
              <a:buNone/>
              <a:defRPr sz="1950" b="0">
                <a:solidFill>
                  <a:srgbClr val="F2F5FF"/>
                </a:solidFill>
                <a:latin typeface="Aptos"/>
                <a:ea typeface="Aptos"/>
                <a:cs typeface="Aptos"/>
              </a:defRPr>
            </a:pPr>
            <a:r>
              <a:t>the probe path open after deletion.</a:t>
            </a:r>
          </a:p>
        </p:txBody>
      </p:sp>
      <p:sp>
        <p:nvSpPr>
          <p:cNvPr id="11" name="α measures entries per bucket in chaining, an">
            <a:extLst xmlns:a="http://schemas.openxmlformats.org/drawingml/2006/main">
              <a:ext uri="{FF2B5EF4-FFF2-40B4-BE49-F238E27FC236}">
                <a16:creationId xmlns:a16="http://schemas.microsoft.com/office/drawing/2014/main" id="{AC215D09-3F5B-4790-80CF-ECABE613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α measures entries per bucket in chaining, and occupied-slot fraction in open addressing.</a:t>
            </a:r>
          </a:p>
        </p:txBody>
      </p:sp>
      <p:sp>
        <p:nvSpPr>
          <p:cNvPr id="12" name="HASH TABLES">
            <a:extLst xmlns:a="http://schemas.openxmlformats.org/drawingml/2006/main">
              <a:ext uri="{FF2B5EF4-FFF2-40B4-BE49-F238E27FC236}">
                <a16:creationId xmlns:a16="http://schemas.microsoft.com/office/drawing/2014/main" id="{E841712D-0534-4F61-BCC5-198F0D2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DEEB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sp>
        <p:nvSpPr>
          <p:cNvPr id="13" name="22">
            <a:extLst xmlns:a="http://schemas.openxmlformats.org/drawingml/2006/main">
              <a:ext uri="{FF2B5EF4-FFF2-40B4-BE49-F238E27FC236}">
                <a16:creationId xmlns:a16="http://schemas.microsoft.com/office/drawing/2014/main" id="{784F2E1D-A4E2-42D7-B6C3-0104F29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566489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0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llision strategies at a glance">
            <a:extLst xmlns:a="http://schemas.openxmlformats.org/drawingml/2006/main">
              <a:ext uri="{FF2B5EF4-FFF2-40B4-BE49-F238E27FC236}">
                <a16:creationId xmlns:a16="http://schemas.microsoft.com/office/drawing/2014/main" id="{296222CF-243C-4C53-BE50-A343D3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2F5FF"/>
                </a:solidFill>
                <a:latin typeface="Aptos Display"/>
                <a:ea typeface="Aptos Display"/>
                <a:cs typeface="Aptos Display"/>
              </a:defRPr>
            </a:pPr>
            <a:r>
              <a:t>Collision strategies at a glance</a:t>
            </a:r>
          </a:p>
        </p:txBody>
      </p:sp>
      <p:sp>
        <p:nvSpPr>
          <p:cNvPr id="2" name="The choice balances probe behavior, memory and del">
            <a:extLst xmlns:a="http://schemas.openxmlformats.org/drawingml/2006/main">
              <a:ext uri="{FF2B5EF4-FFF2-40B4-BE49-F238E27FC236}">
                <a16:creationId xmlns:a16="http://schemas.microsoft.com/office/drawing/2014/main" id="{8D2ABBBA-6918-45C8-BA90-B15151FF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The choice balances probe behavior, memory and deletion</a:t>
            </a:r>
          </a:p>
        </p:txBody>
      </p:sp>
      <p:sp>
        <p:nvSpPr>
          <p:cNvPr id="3" name="HASH TABLES">
            <a:extLst xmlns:a="http://schemas.openxmlformats.org/drawingml/2006/main">
              <a:ext uri="{FF2B5EF4-FFF2-40B4-BE49-F238E27FC236}">
                <a16:creationId xmlns:a16="http://schemas.microsoft.com/office/drawing/2014/main" id="{357CC104-3DA2-4F04-9B53-E641C69A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52B0"/>
                </a:solidFill>
                <a:latin typeface="Aptos"/>
                <a:ea typeface="Aptos"/>
                <a:cs typeface="Aptos"/>
              </a:defRPr>
            </a:pPr>
            <a:r>
              <a:t>HASH TABLES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01375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09875"/>
                <a:gridCol w="3238500"/>
                <a:gridCol w="2857500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52B0"/>
                          </a:solidFill>
                          <a:latin typeface="Aptos"/>
                          <a:ea typeface="Aptos"/>
                          <a:cs typeface="Aptos"/>
                        </a:rPr>
                        <a:t>Strategy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52B0"/>
                          </a:solidFill>
                          <a:latin typeface="Aptos"/>
                          <a:ea typeface="Aptos"/>
                          <a:cs typeface="Aptos"/>
                        </a:rPr>
                        <a:t>Main advantage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52B0"/>
                          </a:solidFill>
                          <a:latin typeface="Aptos"/>
                          <a:ea typeface="Aptos"/>
                          <a:cs typeface="Aptos"/>
                        </a:rPr>
                        <a:t>Main cost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52B0"/>
                          </a:solidFill>
                          <a:latin typeface="Aptos"/>
                          <a:ea typeface="Aptos"/>
                          <a:cs typeface="Aptos"/>
                        </a:rPr>
                        <a:t>Deletion in this model</a:t>
                      </a:r>
                    </a:p>
                  </a:txBody>
                  <a:tcPr marL="152400" marR="114300" marT="114300" marB="95250" anchor="ctr">
                    <a:solidFill>
                      <a:srgbClr val="131C2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Chaining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Flexible bucket size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Bucket storage and scans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Remove bucket entry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Linear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Consecutive access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Primary clustering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Tombstone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Quadratic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Separated offsets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Partial slot coverage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Tombstone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Double hash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Key-dependent steps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Second hash and jumps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F2F5FF"/>
                          </a:solidFill>
                          <a:latin typeface="Aptos"/>
                          <a:ea typeface="Aptos"/>
                          <a:cs typeface="Aptos"/>
                        </a:rPr>
                        <a:t>Tombstone</a:t>
                      </a:r>
                    </a:p>
                  </a:txBody>
                  <a:tcPr marL="152400" marR="114300" marT="114300" marB="95250" anchor="ctr">
                    <a:solidFill>
                      <a:srgbClr val="080B17"/>
                    </a:solidFill>
                  </a:tcPr>
                </a:tc>
              </a:tr>
            </a:tbl>
          </a:graphicData>
        </a:graphic>
      </p:graphicFrame>
      <p:sp>
        <p:nvSpPr>
          <p:cNvPr id="5" name="Good hashing, capacity control and correct lookup ">
            <a:extLst xmlns:a="http://schemas.openxmlformats.org/drawingml/2006/main">
              <a:ext uri="{FF2B5EF4-FFF2-40B4-BE49-F238E27FC236}">
                <a16:creationId xmlns:a16="http://schemas.microsoft.com/office/drawing/2014/main" id="{95C8A894-1667-43EB-8F2E-BE3F2D0F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0E3AE"/>
                </a:solidFill>
                <a:latin typeface="Aptos"/>
                <a:ea typeface="Aptos"/>
                <a:cs typeface="Aptos"/>
              </a:defRPr>
            </a:pPr>
            <a:r>
              <a:t>Good hashing, capacity control and correct lookup work together.</a:t>
            </a:r>
          </a:p>
        </p:txBody>
      </p:sp>
      <p:sp>
        <p:nvSpPr>
          <p:cNvPr id="6" name="45">
            <a:extLst xmlns:a="http://schemas.openxmlformats.org/drawingml/2006/main">
              <a:ext uri="{FF2B5EF4-FFF2-40B4-BE49-F238E27FC236}">
                <a16:creationId xmlns:a16="http://schemas.microsoft.com/office/drawing/2014/main" id="{43A95254-487C-44A9-AAFC-C2D89B99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DB8D1"/>
                </a:solidFill>
                <a:latin typeface="Aptos"/>
                <a:ea typeface="Aptos"/>
                <a:cs typeface="Aptos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64145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B1FCA4-7D3C-4CC1-B6F4-7398B168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CHOOSING A SEARCH METHOD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7E1926-ED25-467B-A431-C176C30A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Match the algorithm to the shape of the data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CD3DBA0-105B-4630-801D-0C100D5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A487FD-0897-431D-94E5-68C9D7F6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22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28F4552-B526-428E-9F9F-AC6D02E2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1280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A9B3D0"/>
                </a:solidFill>
              </a:rPr>
              <a:t>METHOD</a:t>
            </a:r>
            <a:endParaRPr sz="88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421191-4B33-4EA2-8DAB-3070828F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3258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A9B3D0"/>
                </a:solidFill>
              </a:rPr>
              <a:t>DATA REQUIREMENTS</a:t>
            </a:r>
            <a:endParaRPr sz="88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15EA0E6-EBC7-4EB2-84A6-2E90AA2B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325880"/>
            <a:ext cx="1280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A9B3D0"/>
                </a:solidFill>
              </a:rPr>
              <a:t>AVERAGE</a:t>
            </a:r>
            <a:endParaRPr sz="8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4D1B9C-27AE-4C7C-9DAB-340A4FD0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25880"/>
            <a:ext cx="1280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A9B3D0"/>
                </a:solidFill>
              </a:rPr>
              <a:t>WORST</a:t>
            </a:r>
            <a:endParaRPr sz="88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90D3FCF-A4F5-4822-8069-ADBB260B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325880"/>
            <a:ext cx="1280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A9B3D0"/>
                </a:solidFill>
              </a:rPr>
              <a:t>BEST FIT</a:t>
            </a:r>
            <a:endParaRPr sz="88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18568E8-AC28-4CFD-B659-67CD14D1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2763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A7B4DE-9085-496D-9712-06932E17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4F7FF"/>
                </a:solidFill>
              </a:rPr>
              <a:t>Linear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AAB313A-E032-41B3-81A8-B756D3C2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83080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None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662FB2F-64B9-493A-87F3-E706B20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83080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O(n)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37FFEBC-9383-4F17-B05A-FB0FD56B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83080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O(n)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205E28-A4BD-43FE-8D01-E6AD2ED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83080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Small or unsorted lists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7B7BAF5-58C7-4D5E-82DE-3FD34F0B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0864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85267F5-3C7F-422B-AA86-9EE1833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96312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4F7FF"/>
                </a:solidFill>
              </a:rPr>
              <a:t>Binary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8AE5C9-5AB0-461A-A4A6-DB80EED6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49631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Sorted + random access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7C77DDE-272C-4AE0-B614-CD5773F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496312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O(log n)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4543AAD-3DCB-4047-972B-2D16BB59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6312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O(log n)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8DB414-115D-41B6-8E0E-5D4FB249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49631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Large sorted arrays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E2FBE1E-9774-48D7-BD34-FC556E1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54096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45C585E-3FEB-43D3-AF7A-72B88963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9544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4F7FF"/>
                </a:solidFill>
              </a:rPr>
              <a:t>Interpolation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B0BA41-E939-4876-9680-1254BAE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20954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Sorted + uniform distribution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BE241DB-FE27-4B13-B8F6-41B2ED6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209544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O(log log n)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0EF4534-9A65-4A3C-8CC8-A89BD7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9544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O(n)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28AD53B-8F37-49AF-9C51-1AFFE5EB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0954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Uniform numeric values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F579C5C-CBF4-48E3-92AC-71DDC3E0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67328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A7EF074-7FF7-43C3-8FD3-A2C9EB7F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22776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4F7FF"/>
                </a:solidFill>
              </a:rPr>
              <a:t>Hash table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CFF96E5-47D4-4946-AC24-6A6B2176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922776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Good hash + enough capacity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F009864-ADE1-40AE-A039-A212C55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22776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O(1)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302083E-BEBD-49B6-AF51-E4401AD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2776"/>
            <a:ext cx="1143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O(n)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A03361F-D473-40A7-972D-5AD8F7A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922776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9B3D0"/>
                </a:solidFill>
              </a:rPr>
              <a:t>Repeated key lookups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646565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D9B1E1-0CA4-47FA-80A1-6ED3609A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7FF"/>
                </a:solidFill>
                <a:latin typeface="Aptos Display"/>
                <a:ea typeface="Aptos Display"/>
                <a:cs typeface="Aptos Display"/>
              </a:rPr>
              <a:t>KEY TAKEAWAY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E3723D-EE2B-460F-8149-8FC26D62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9B3D0"/>
                </a:solidFill>
              </a:rPr>
              <a:t>No search algorithm is the best for every problem</a:t>
            </a:r>
            <a:endParaRPr sz="11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132F9C-DB5D-4DA6-9B59-72F0F6BF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46520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9335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05E0EB-3F91-48C2-9027-07C96590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510528"/>
            <a:ext cx="548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9B3D0"/>
                </a:solidFill>
                <a:latin typeface="Aptos"/>
                <a:ea typeface="Aptos"/>
                <a:cs typeface="Aptos"/>
              </a:rPr>
              <a:t>23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E403126-1479-4111-9D93-1518B5A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417320"/>
            <a:ext cx="9875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F4F7FF"/>
                </a:solidFill>
              </a:rPr>
              <a:t>Performance depends on ordering, distribution, access patterns, and how often the data changes.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CCB5BE-4582-4B4F-94BA-AFAA20FB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3464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39E7F0"/>
                </a:solidFill>
              </a:rPr>
              <a:t>UNDERSTAND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7BB46E-DF36-4C22-8CE8-94DAF2E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46120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A9B3D0"/>
                </a:solidFill>
              </a:rPr>
              <a:t>the data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79B3F22-DC28-465C-8163-208A4380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5EE6A8"/>
                </a:solidFill>
              </a:rPr>
              <a:t>CHOOSE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E9EE765-702D-46E1-ACC8-503ED62C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46120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A9B3D0"/>
                </a:solidFill>
              </a:rPr>
              <a:t>the structure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731304-B79C-4692-B532-2C906A9A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3464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B84D"/>
                </a:solidFill>
              </a:rPr>
              <a:t>HANDLE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FD4501-330A-4A79-8A86-69CFADB0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246120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A9B3D0"/>
                </a:solidFill>
              </a:rPr>
              <a:t>edge cases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500928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2026-09-10T12:59:57.7520000Z</dcterms:created>
  <dcterms:modified xsi:type="dcterms:W3CDTF">2026-09-10T12:59:57.7520000Z</dcterms:modified>
</coreProperties>
</file>